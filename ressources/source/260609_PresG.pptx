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48_8E1CE87B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296" r:id="rId6"/>
    <p:sldId id="327" r:id="rId7"/>
    <p:sldId id="325" r:id="rId8"/>
    <p:sldId id="308" r:id="rId9"/>
    <p:sldId id="328" r:id="rId10"/>
    <p:sldId id="332" r:id="rId11"/>
    <p:sldId id="326" r:id="rId12"/>
    <p:sldId id="305" r:id="rId13"/>
    <p:sldId id="307" r:id="rId14"/>
    <p:sldId id="297" r:id="rId15"/>
    <p:sldId id="330" r:id="rId16"/>
    <p:sldId id="318" r:id="rId17"/>
    <p:sldId id="276" r:id="rId18"/>
    <p:sldId id="331" r:id="rId19"/>
    <p:sldId id="324" r:id="rId20"/>
    <p:sldId id="322" r:id="rId21"/>
    <p:sldId id="269" r:id="rId22"/>
    <p:sldId id="329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0F0A30-5A1E-37E9-60B4-C2DA83C3724E}" name="Hugo Roussaffa" initials="HR" userId="S::hugoroussaffa_gmail.com#ext#@oeilnc.onmicrosoft.com::4c4e00dd-343c-4d6c-afa7-3bfe549ef7c9" providerId="AD"/>
  <p188:author id="{70024188-F665-71C9-EBDD-07FBE7AE9BC6}" name="Marjolaine DAVID" initials="MD" userId="S::marjolaine.david@oeil.nc::59f0528e-2675-4117-a2e8-1aa7827727b9" providerId="AD"/>
  <p188:author id="{332D35A0-584E-4D46-CD88-7A2D4B2BF308}" name="Marjolaine DAVID" initials="MD" userId="S::marjolaine.david@oeilnc.onmicrosoft.com::59f0528e-2675-4117-a2e8-1aa7827727b9" providerId="AD"/>
  <p188:author id="{C1B4F6B6-BA2B-6A46-E721-4A0AAAB57E25}" name="Fabien ALBOUY" initials="FA" userId="S::fabien.albouy@oeil.nc::0c3d015e-3131-446f-8cf8-a5db77c77d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230"/>
    <a:srgbClr val="CB9B48"/>
    <a:srgbClr val="EDB832"/>
    <a:srgbClr val="156082"/>
    <a:srgbClr val="4D855E"/>
    <a:srgbClr val="40A35E"/>
    <a:srgbClr val="98CF51"/>
    <a:srgbClr val="2C7691"/>
    <a:srgbClr val="EDD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56626-154E-4EE1-8BE2-AB034C9F1B0D}" v="468" dt="2026-06-09T06:42:16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2518" autoAdjust="0"/>
  </p:normalViewPr>
  <p:slideViewPr>
    <p:cSldViewPr snapToGrid="0">
      <p:cViewPr varScale="1">
        <p:scale>
          <a:sx n="101" d="100"/>
          <a:sy n="101" d="100"/>
        </p:scale>
        <p:origin x="144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omments/modernComment_148_8E1CE8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66FA4AE-EEAE-4A6E-91F4-CF724D60FF96}" authorId="{70024188-F665-71C9-EBDD-07FBE7AE9BC6}" created="2026-06-09T23:07:45.63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84259195" sldId="328"/>
      <ac:spMk id="3" creationId="{4F8F3A1D-50B3-F5F0-E82F-3753CD9F35D0}"/>
      <ac:txMk cp="111" len="16">
        <ac:context len="389" hash="459440860"/>
      </ac:txMk>
    </ac:txMkLst>
    <p188:pos x="4988654" y="1153976"/>
    <p188:txBody>
      <a:bodyPr/>
      <a:lstStyle/>
      <a:p>
        <a:r>
          <a:rPr lang="fr-FR"/>
          <a:t>Remarque Stéphane BALAYRE : en réalité, les PPE simplifient la gestion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83155-7D8D-48B1-93BF-F30C383183B2}" type="datetimeFigureOut"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E1574-D2CE-45A2-A085-8FF7E78C15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1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91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NC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8F6CA-67E2-4F39-8A39-A5A0CD4B0279}" type="slidenum">
              <a:rPr lang="fr-NC" smtClean="0"/>
              <a:t>2</a:t>
            </a:fld>
            <a:endParaRPr lang="fr-NC"/>
          </a:p>
        </p:txBody>
      </p:sp>
    </p:spTree>
    <p:extLst>
      <p:ext uri="{BB962C8B-B14F-4D97-AF65-F5344CB8AC3E}">
        <p14:creationId xmlns:p14="http://schemas.microsoft.com/office/powerpoint/2010/main" val="531680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F719-655C-7D21-7BB3-5C0D017E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84FADF-9275-CC97-ECC0-BF00C2399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A91681E-D55D-2A06-2745-DB8BE771D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NC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2B5F43-1500-F4D9-C3C6-3EFF2039F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8F6CA-67E2-4F39-8A39-A5A0CD4B0279}" type="slidenum">
              <a:rPr lang="fr-NC" smtClean="0"/>
              <a:t>3</a:t>
            </a:fld>
            <a:endParaRPr lang="fr-NC"/>
          </a:p>
        </p:txBody>
      </p:sp>
    </p:spTree>
    <p:extLst>
      <p:ext uri="{BB962C8B-B14F-4D97-AF65-F5344CB8AC3E}">
        <p14:creationId xmlns:p14="http://schemas.microsoft.com/office/powerpoint/2010/main" val="3986805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14B6-BEE7-4D1D-D981-C89289513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D372D2-D9C6-1478-311C-39A54B7C3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A3E5A24-EB55-554B-0390-36498E6BB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823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fr-FR" sz="1800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823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fr-FR" sz="1800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8A62D0-2C1C-881F-B686-BA14D90A3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8F6CA-67E2-4F39-8A39-A5A0CD4B0279}" type="slidenum">
              <a:rPr lang="fr-NC" smtClean="0"/>
              <a:t>4</a:t>
            </a:fld>
            <a:endParaRPr lang="fr-NC"/>
          </a:p>
        </p:txBody>
      </p:sp>
    </p:spTree>
    <p:extLst>
      <p:ext uri="{BB962C8B-B14F-4D97-AF65-F5344CB8AC3E}">
        <p14:creationId xmlns:p14="http://schemas.microsoft.com/office/powerpoint/2010/main" val="49700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16D3-133C-D889-40B3-A26563BE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2A7F8D-B691-2EBB-66B0-AE5BB9784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A20EAC9-A93C-86F1-DE1B-D60F3505C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None/>
            </a:pPr>
            <a:endParaRPr lang="fr-FR" sz="1800" b="1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748D8F-D6B9-77DB-4904-5CE7F37CD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8F6CA-67E2-4F39-8A39-A5A0CD4B0279}" type="slidenum">
              <a:rPr lang="fr-NC" smtClean="0"/>
              <a:t>5</a:t>
            </a:fld>
            <a:endParaRPr lang="fr-NC"/>
          </a:p>
        </p:txBody>
      </p:sp>
    </p:spTree>
    <p:extLst>
      <p:ext uri="{BB962C8B-B14F-4D97-AF65-F5344CB8AC3E}">
        <p14:creationId xmlns:p14="http://schemas.microsoft.com/office/powerpoint/2010/main" val="3370774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A07AF-6C70-04F5-3256-95C8F1A0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1F3B21-9CE4-BDFA-DBCA-2637BCFD4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FB8283-78AE-9294-ECCA-FD4A52A4D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None/>
            </a:pPr>
            <a:endParaRPr lang="fr-NC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E29F0A-6F0F-7734-E40F-E93C38E45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8F6CA-67E2-4F39-8A39-A5A0CD4B0279}" type="slidenum">
              <a:rPr lang="fr-NC" smtClean="0"/>
              <a:t>6</a:t>
            </a:fld>
            <a:endParaRPr lang="fr-NC"/>
          </a:p>
        </p:txBody>
      </p:sp>
    </p:spTree>
    <p:extLst>
      <p:ext uri="{BB962C8B-B14F-4D97-AF65-F5344CB8AC3E}">
        <p14:creationId xmlns:p14="http://schemas.microsoft.com/office/powerpoint/2010/main" val="3030680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A85A2-4593-5131-836A-32BC8C411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94E25C-2C67-4EE2-19FB-69F2F2489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B43695-26DE-2C7B-183F-DE5098664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NC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F2643B-E5D7-867E-5581-D2A087F6F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8F6CA-67E2-4F39-8A39-A5A0CD4B0279}" type="slidenum">
              <a:rPr lang="fr-NC" smtClean="0"/>
              <a:t>7</a:t>
            </a:fld>
            <a:endParaRPr lang="fr-NC"/>
          </a:p>
        </p:txBody>
      </p:sp>
    </p:spTree>
    <p:extLst>
      <p:ext uri="{BB962C8B-B14F-4D97-AF65-F5344CB8AC3E}">
        <p14:creationId xmlns:p14="http://schemas.microsoft.com/office/powerpoint/2010/main" val="1093144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481E9-637C-80BC-4471-12A86C32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64D4EA-C41C-0827-B9F7-C61E757A1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8EA61AC-09FF-4AD3-A77F-4F393871D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None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loi du pays n° 2025-9 relative au domaine public de l’eau de la Nouvelle-Calédonie et à la protection de la ressource en eau a été promulguée le 15 juillet 2025. </a:t>
            </a:r>
            <a:endParaRPr lang="fr-NC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D77B3C-CCCF-468B-1084-1AF836ECD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8F6CA-67E2-4F39-8A39-A5A0CD4B0279}" type="slidenum">
              <a:rPr lang="fr-NC" smtClean="0"/>
              <a:t>8</a:t>
            </a:fld>
            <a:endParaRPr lang="fr-NC"/>
          </a:p>
        </p:txBody>
      </p:sp>
    </p:spTree>
    <p:extLst>
      <p:ext uri="{BB962C8B-B14F-4D97-AF65-F5344CB8AC3E}">
        <p14:creationId xmlns:p14="http://schemas.microsoft.com/office/powerpoint/2010/main" val="356254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3E3DE-A524-E61F-7DE3-1C72DFFB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81753A-22A5-C1B9-7E7E-9E70EDBB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D9DC0A-07B2-9DCE-E55E-00E808181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0815" lvl="0" indent="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None/>
            </a:pPr>
            <a:r>
              <a:rPr lang="fr-FR" sz="1800" dirty="0">
                <a:latin typeface="Century Gothic"/>
                <a:cs typeface="Calibri Light"/>
              </a:rPr>
              <a:t>Convention OFB : signée le 28/05/2025, fin en 31/03/2028</a:t>
            </a:r>
          </a:p>
          <a:p>
            <a:pPr marL="170815" lvl="0" indent="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None/>
            </a:pPr>
            <a:r>
              <a:rPr lang="fr-FR" sz="1800" dirty="0">
                <a:latin typeface="Century Gothic"/>
                <a:cs typeface="Calibri Light"/>
              </a:rPr>
              <a:t>Convention NC : signée le 24 décembre 2024, durée initiale d’un an (avenant repoussant la fourniture des livrables au 29 décembre 2026 et une fin au 29 juin 2027 (nouvel avenant à venir pour repousser à décembre 2027)</a:t>
            </a:r>
          </a:p>
          <a:p>
            <a:endParaRPr lang="fr-NC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DD5EF2-C491-832A-8F01-3BB0FDD8D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8F6CA-67E2-4F39-8A39-A5A0CD4B0279}" type="slidenum">
              <a:rPr lang="fr-NC" smtClean="0"/>
              <a:t>9</a:t>
            </a:fld>
            <a:endParaRPr lang="fr-NC"/>
          </a:p>
        </p:txBody>
      </p:sp>
    </p:spTree>
    <p:extLst>
      <p:ext uri="{BB962C8B-B14F-4D97-AF65-F5344CB8AC3E}">
        <p14:creationId xmlns:p14="http://schemas.microsoft.com/office/powerpoint/2010/main" val="1181898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923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78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3956-7636-9B85-2413-3CEB8E767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3012321-2359-7A56-F1CD-93302A339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594D9F-6428-C3F8-B771-E35058F06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7FA26A-F7CA-F728-697B-EF5EEC345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879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PDF </a:t>
            </a:r>
            <a:r>
              <a:rPr lang="en-US" sz="1200" b="0" u="none" strike="noStrike" dirty="0">
                <a:solidFill>
                  <a:srgbClr val="2A2A2A"/>
                </a:solidFill>
                <a:effectLst/>
                <a:uFillTx/>
                <a:latin typeface="+mn-lt"/>
                <a:ea typeface="Calibri"/>
              </a:rPr>
              <a:t>par </a:t>
            </a:r>
            <a:r>
              <a:rPr lang="en-US" sz="1200" b="0" u="none" strike="noStrike" dirty="0" err="1">
                <a:solidFill>
                  <a:srgbClr val="2A2A2A"/>
                </a:solidFill>
                <a:effectLst/>
                <a:uFillTx/>
                <a:latin typeface="+mn-lt"/>
                <a:ea typeface="Calibri"/>
              </a:rPr>
              <a:t>bassin</a:t>
            </a:r>
            <a:r>
              <a:rPr lang="en-US" sz="1200" b="0" u="none" strike="noStrike" dirty="0">
                <a:solidFill>
                  <a:srgbClr val="2A2A2A"/>
                </a:solidFill>
                <a:effectLst/>
                <a:uFillTx/>
                <a:latin typeface="+mn-lt"/>
                <a:ea typeface="Calibri"/>
              </a:rPr>
              <a:t>, </a:t>
            </a:r>
            <a:r>
              <a:rPr lang="en-US" sz="1200" b="0" u="none" strike="noStrike" dirty="0" err="1">
                <a:solidFill>
                  <a:srgbClr val="2A2A2A"/>
                </a:solidFill>
                <a:effectLst/>
                <a:uFillTx/>
                <a:latin typeface="+mn-lt"/>
                <a:ea typeface="Calibri"/>
              </a:rPr>
              <a:t>captage</a:t>
            </a:r>
            <a:r>
              <a:rPr lang="en-US" sz="1200" b="0" u="none" strike="noStrike" dirty="0">
                <a:solidFill>
                  <a:srgbClr val="2A2A2A"/>
                </a:solidFill>
                <a:effectLst/>
                <a:uFillTx/>
                <a:latin typeface="+mn-lt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2A2A2A"/>
                </a:solidFill>
                <a:effectLst/>
                <a:uFillTx/>
                <a:latin typeface="+mn-lt"/>
                <a:ea typeface="Calibri"/>
              </a:rPr>
              <a:t>ou</a:t>
            </a:r>
            <a:r>
              <a:rPr lang="en-US" sz="1200" b="0" u="none" strike="noStrike" dirty="0">
                <a:solidFill>
                  <a:srgbClr val="2A2A2A"/>
                </a:solidFill>
                <a:effectLst/>
                <a:uFillTx/>
                <a:latin typeface="+mn-lt"/>
                <a:ea typeface="Calibri"/>
              </a:rPr>
              <a:t> commune</a:t>
            </a:r>
            <a:r>
              <a:rPr lang="en-US" sz="1200" dirty="0">
                <a:solidFill>
                  <a:srgbClr val="2A2A2A"/>
                </a:solidFill>
                <a:latin typeface="+mn-lt"/>
                <a:ea typeface="Calibri"/>
              </a:rPr>
              <a:t>...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642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3225-CD83-12F1-4D86-B40BF5C0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C90193-E787-EE68-4EF9-D0608F6E1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F0A68A-708F-1AD8-0FA4-9D0DF768B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655D7E-D8B0-9BF3-D687-7C5C7B516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917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5448-078D-88F5-DC39-07ADAB85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D05A22-2072-52FC-C3B9-516A4AFB9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B0533F9-5BF6-3F03-AC3F-225D83916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968B1D-BFF6-D3CF-9B44-DAF511301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995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1420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434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8A3C6-3D9C-D17A-467C-DE1732604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47BA1DF-44CC-B33A-BF88-956B13E61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B6C68C9-EF4B-2B42-9781-6D1F936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2DE3C7-EAEA-D044-244F-046B61F26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E1574-D2CE-45A2-A085-8FF7E78C15F0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4835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F2A33EA0-B379-4019-9275-747DC026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821" y="365126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fr-FR"/>
              <a:t>Titre de la diapositive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B731F2EF-B1CE-43E4-BAD3-82F6D341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3CEE40D-A476-4FA1-AB86-1526EBD7258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7747D658-3CCD-565E-5859-F581AF9835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259" y="1637144"/>
            <a:ext cx="11017481" cy="4597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253347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8_8E1CE87B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oeil.maps.arcgis.com/apps/dashboards/209d4f870def400dad399eb799f92f06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5">
            <a:extLst>
              <a:ext uri="{FF2B5EF4-FFF2-40B4-BE49-F238E27FC236}">
                <a16:creationId xmlns:a16="http://schemas.microsoft.com/office/drawing/2014/main" id="{99FE6980-D746-CFCB-84F0-977B51E653FA}"/>
              </a:ext>
            </a:extLst>
          </p:cNvPr>
          <p:cNvSpPr>
            <a:spLocks noGrp="1"/>
          </p:cNvSpPr>
          <p:nvPr/>
        </p:nvSpPr>
        <p:spPr>
          <a:xfrm>
            <a:off x="812144" y="3616532"/>
            <a:ext cx="10561487" cy="210497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kern="1200">
                <a:solidFill>
                  <a:schemeClr val="accent2"/>
                </a:solidFill>
                <a:latin typeface="Abadi Extra Light" panose="020B0204020104020204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200000"/>
              </a:lnSpc>
            </a:pPr>
            <a:r>
              <a:rPr lang="fr-FR" sz="4400" b="1" dirty="0">
                <a:solidFill>
                  <a:schemeClr val="accent1"/>
                </a:solidFill>
                <a:latin typeface="Century Gothic"/>
                <a:ea typeface="Calibri"/>
                <a:cs typeface="Calibri"/>
              </a:rPr>
              <a:t>Projet HYDROSCOPE </a:t>
            </a:r>
            <a:r>
              <a:rPr lang="fr-FR" sz="2800" dirty="0">
                <a:solidFill>
                  <a:schemeClr val="accent1"/>
                </a:solidFill>
                <a:latin typeface="Century Gothic"/>
                <a:ea typeface="Calibri"/>
                <a:cs typeface="Calibri"/>
              </a:rPr>
              <a:t>(juin 2025 - décembre 2027)</a:t>
            </a:r>
            <a:endParaRPr lang="en-US" sz="2800" dirty="0">
              <a:solidFill>
                <a:schemeClr val="accent1"/>
              </a:solidFill>
              <a:latin typeface="Century Gothic"/>
              <a:ea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lang="fr-FR" sz="2400" i="1" dirty="0">
                <a:solidFill>
                  <a:schemeClr val="accent1"/>
                </a:solidFill>
                <a:latin typeface="Century Gothic"/>
                <a:ea typeface="Calibri"/>
                <a:cs typeface="Calibri"/>
              </a:rPr>
              <a:t>Présentation du 09 juin 2026</a:t>
            </a:r>
            <a:endParaRPr lang="en-US" sz="2400" i="1" dirty="0">
              <a:solidFill>
                <a:schemeClr val="accent1"/>
              </a:solidFill>
              <a:latin typeface="Century Gothic"/>
              <a:ea typeface="Calibri"/>
              <a:cs typeface="Calibri"/>
            </a:endParaRPr>
          </a:p>
        </p:txBody>
      </p:sp>
      <p:pic>
        <p:nvPicPr>
          <p:cNvPr id="13" name="Image 7">
            <a:extLst>
              <a:ext uri="{FF2B5EF4-FFF2-40B4-BE49-F238E27FC236}">
                <a16:creationId xmlns:a16="http://schemas.microsoft.com/office/drawing/2014/main" id="{B0F4C7AD-80E2-8605-02DA-BBB620E45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40" b="15183"/>
          <a:stretch>
            <a:fillRect/>
          </a:stretch>
        </p:blipFill>
        <p:spPr>
          <a:xfrm>
            <a:off x="0" y="-1680"/>
            <a:ext cx="12195812" cy="3621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 1">
            <a:extLst>
              <a:ext uri="{FF2B5EF4-FFF2-40B4-BE49-F238E27FC236}">
                <a16:creationId xmlns:a16="http://schemas.microsoft.com/office/drawing/2014/main" id="{D672EE5A-D582-4465-047B-7B94450321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2" b="2572"/>
          <a:stretch>
            <a:fillRect/>
          </a:stretch>
        </p:blipFill>
        <p:spPr>
          <a:xfrm>
            <a:off x="6454578" y="5957798"/>
            <a:ext cx="3620539" cy="704085"/>
          </a:xfrm>
          <a:prstGeom prst="rect">
            <a:avLst/>
          </a:prstGeom>
        </p:spPr>
      </p:pic>
      <p:pic>
        <p:nvPicPr>
          <p:cNvPr id="17" name="Image 4">
            <a:extLst>
              <a:ext uri="{FF2B5EF4-FFF2-40B4-BE49-F238E27FC236}">
                <a16:creationId xmlns:a16="http://schemas.microsoft.com/office/drawing/2014/main" id="{37811BF0-764D-F601-F43C-A7AF0C2C1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5878" y="6074406"/>
            <a:ext cx="1403142" cy="5946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6922D0-C8EB-7BFA-E115-F2F8430DC1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980" y="6288863"/>
            <a:ext cx="1729636" cy="379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EE1D86-A341-11B4-9C49-81B581A105E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496" b="-10000"/>
          <a:stretch>
            <a:fillRect/>
          </a:stretch>
        </p:blipFill>
        <p:spPr>
          <a:xfrm>
            <a:off x="215462" y="170939"/>
            <a:ext cx="1540435" cy="22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2C51-7F1B-8F92-6C50-0A64518B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DB23-C56E-4DBB-0EA1-4EDC66D73E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259" y="1368204"/>
            <a:ext cx="11017481" cy="45974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530B9-63DF-21F3-1851-E9B7A9CB9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52" y="158597"/>
            <a:ext cx="909122" cy="1206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632EED-5A82-7478-D122-CB804EB4F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80" y="1487345"/>
            <a:ext cx="921733" cy="232730"/>
          </a:xfrm>
          <a:prstGeom prst="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714906A1-3934-953B-15A3-B6BFC5880174}"/>
              </a:ext>
            </a:extLst>
          </p:cNvPr>
          <p:cNvSpPr txBox="1"/>
          <p:nvPr/>
        </p:nvSpPr>
        <p:spPr>
          <a:xfrm>
            <a:off x="1574071" y="1916056"/>
            <a:ext cx="8246823" cy="122623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2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2000" b="1" dirty="0">
                <a:solidFill>
                  <a:srgbClr val="000000"/>
                </a:solidFill>
                <a:latin typeface="Century Gothic"/>
                <a:cs typeface="Arial"/>
              </a:rPr>
              <a:t>Marjolaine DAVID, </a:t>
            </a:r>
            <a:r>
              <a:rPr lang="en-US" sz="2000" dirty="0" err="1">
                <a:solidFill>
                  <a:srgbClr val="000000"/>
                </a:solidFill>
                <a:latin typeface="Century Gothic"/>
                <a:cs typeface="Arial"/>
              </a:rPr>
              <a:t>géomaticienne</a:t>
            </a:r>
            <a:r>
              <a:rPr lang="en-US" sz="2000" dirty="0">
                <a:solidFill>
                  <a:srgbClr val="000000"/>
                </a:solidFill>
                <a:latin typeface="Century Gothic"/>
                <a:cs typeface="Arial"/>
              </a:rPr>
              <a:t> à </a:t>
            </a:r>
            <a:r>
              <a:rPr lang="en-US" sz="2000" dirty="0" err="1">
                <a:solidFill>
                  <a:srgbClr val="000000"/>
                </a:solidFill>
                <a:latin typeface="Century Gothic"/>
                <a:cs typeface="Arial"/>
              </a:rPr>
              <a:t>l’OEIL</a:t>
            </a:r>
            <a:r>
              <a:rPr lang="en-US" sz="2000" dirty="0">
                <a:solidFill>
                  <a:srgbClr val="000000"/>
                </a:solidFill>
                <a:latin typeface="Century Gothic"/>
                <a:cs typeface="Arial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entury Gothic"/>
                <a:cs typeface="Arial"/>
              </a:rPr>
              <a:t>cheffe</a:t>
            </a:r>
            <a:r>
              <a:rPr lang="en-US" sz="2000" dirty="0">
                <a:solidFill>
                  <a:srgbClr val="000000"/>
                </a:solidFill>
                <a:latin typeface="Century Gothic"/>
                <a:cs typeface="Arial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Century Gothic"/>
                <a:cs typeface="Arial"/>
              </a:rPr>
              <a:t>projet</a:t>
            </a:r>
            <a:r>
              <a:rPr lang="en-US" sz="2000" dirty="0">
                <a:solidFill>
                  <a:srgbClr val="000000"/>
                </a:solidFill>
                <a:latin typeface="Century Gothic"/>
                <a:cs typeface="Arial"/>
              </a:rPr>
              <a:t>)</a:t>
            </a:r>
            <a:endParaRPr lang="en-US" sz="2000" dirty="0">
              <a:solidFill>
                <a:srgbClr val="000000"/>
              </a:solidFill>
              <a:latin typeface="Century Gothic"/>
              <a:ea typeface="Calibri"/>
              <a:cs typeface="Arial"/>
            </a:endParaRPr>
          </a:p>
          <a:p>
            <a:pPr marL="342900" indent="-342900">
              <a:lnSpc>
                <a:spcPct val="2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2000" b="1" dirty="0">
                <a:latin typeface="Century Gothic"/>
                <a:ea typeface="Calibri"/>
                <a:cs typeface="Arial"/>
              </a:rPr>
              <a:t>Hugo ROUSSAFFA</a:t>
            </a:r>
            <a:r>
              <a:rPr lang="en-US" sz="2000" dirty="0">
                <a:latin typeface="Century Gothic"/>
                <a:ea typeface="Calibri"/>
                <a:cs typeface="Arial"/>
              </a:rPr>
              <a:t>, </a:t>
            </a:r>
            <a:r>
              <a:rPr lang="en-US" sz="2000" dirty="0" err="1">
                <a:latin typeface="Century Gothic"/>
                <a:ea typeface="Calibri"/>
                <a:cs typeface="Arial"/>
              </a:rPr>
              <a:t>prestataire</a:t>
            </a:r>
            <a:r>
              <a:rPr lang="en-US" sz="2000" dirty="0">
                <a:latin typeface="Century Gothic"/>
                <a:ea typeface="Calibri"/>
                <a:cs typeface="Arial"/>
              </a:rPr>
              <a:t> YAPUKA (AMOA)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3EC2A28-9E04-DAB9-3B7D-0B2DC7AFDC35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Intervenants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33A3A0D-C56E-A249-B7D6-63DC6E0AE6AB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3" name="Image 1">
              <a:extLst>
                <a:ext uri="{FF2B5EF4-FFF2-40B4-BE49-F238E27FC236}">
                  <a16:creationId xmlns:a16="http://schemas.microsoft.com/office/drawing/2014/main" id="{443F90EE-1667-7F28-0255-03324CFFA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4" name="Image 4">
              <a:extLst>
                <a:ext uri="{FF2B5EF4-FFF2-40B4-BE49-F238E27FC236}">
                  <a16:creationId xmlns:a16="http://schemas.microsoft.com/office/drawing/2014/main" id="{4DFB5B70-398A-60E0-3E54-4D552863B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EAD7F5B2-520B-5281-9E1D-EE9A095DDD9F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2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356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5FBA6-D8CD-ECC5-AC6D-5032F897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B85C9-54C9-DFAD-0092-77D98274AD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259" y="1368204"/>
            <a:ext cx="11017481" cy="45974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69E56-3BD4-6F60-50A7-19CAA7B56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52" y="158597"/>
            <a:ext cx="909122" cy="1206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1AB84E-1967-7C6A-E24F-6D43EB0FB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80" y="1487345"/>
            <a:ext cx="921733" cy="232730"/>
          </a:xfrm>
          <a:prstGeom prst="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3AAF45B9-4A41-2D61-CCC7-2421288CDA3B}"/>
              </a:ext>
            </a:extLst>
          </p:cNvPr>
          <p:cNvSpPr txBox="1"/>
          <p:nvPr/>
        </p:nvSpPr>
        <p:spPr>
          <a:xfrm>
            <a:off x="1574071" y="1892457"/>
            <a:ext cx="4209905" cy="368863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200000"/>
              </a:lnSpc>
              <a:buClr>
                <a:srgbClr val="F28230"/>
              </a:buClr>
              <a:buFont typeface="+mj-lt"/>
              <a:buAutoNum type="romanUcPeriod"/>
            </a:pPr>
            <a:r>
              <a:rPr lang="en-US" sz="2000" b="1" dirty="0" err="1">
                <a:solidFill>
                  <a:srgbClr val="000000"/>
                </a:solidFill>
                <a:latin typeface="Century Gothic"/>
                <a:cs typeface="Arial"/>
              </a:rPr>
              <a:t>Présentation</a:t>
            </a:r>
            <a:r>
              <a:rPr lang="en-US" sz="2000" b="1" dirty="0">
                <a:solidFill>
                  <a:srgbClr val="000000"/>
                </a:solidFill>
                <a:latin typeface="Century Gothic"/>
                <a:cs typeface="Arial"/>
              </a:rPr>
              <a:t> du </a:t>
            </a:r>
            <a:r>
              <a:rPr lang="en-US" sz="2000" b="1" dirty="0" err="1">
                <a:solidFill>
                  <a:srgbClr val="000000"/>
                </a:solidFill>
                <a:latin typeface="Century Gothic"/>
                <a:cs typeface="Arial"/>
              </a:rPr>
              <a:t>projet</a:t>
            </a:r>
            <a:endParaRPr lang="en-US" sz="2000" b="1" dirty="0">
              <a:solidFill>
                <a:srgbClr val="000000"/>
              </a:solidFill>
              <a:latin typeface="Century Gothic"/>
              <a:ea typeface="Calibri"/>
              <a:cs typeface="Arial"/>
            </a:endParaRPr>
          </a:p>
          <a:p>
            <a:pPr marL="971550" lvl="1" indent="-514350">
              <a:lnSpc>
                <a:spcPct val="2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2000" dirty="0" err="1">
                <a:solidFill>
                  <a:srgbClr val="000000"/>
                </a:solidFill>
                <a:latin typeface="Century Gothic"/>
                <a:ea typeface="Calibri"/>
                <a:cs typeface="Arial"/>
              </a:rPr>
              <a:t>Contexte</a:t>
            </a:r>
            <a:r>
              <a:rPr lang="en-US" sz="2000" dirty="0">
                <a:latin typeface="Century Gothic"/>
                <a:ea typeface="Calibri"/>
                <a:cs typeface="Arial"/>
              </a:rPr>
              <a:t> </a:t>
            </a:r>
          </a:p>
          <a:p>
            <a:pPr marL="971550" lvl="1" indent="-514350">
              <a:lnSpc>
                <a:spcPct val="2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2000" dirty="0" err="1">
                <a:latin typeface="Century Gothic"/>
                <a:ea typeface="Calibri"/>
                <a:cs typeface="Arial"/>
              </a:rPr>
              <a:t>Objectifs</a:t>
            </a:r>
            <a:r>
              <a:rPr lang="en-US" sz="2000" dirty="0">
                <a:latin typeface="Century Gothic"/>
                <a:ea typeface="Calibri"/>
                <a:cs typeface="Arial"/>
              </a:rPr>
              <a:t> &amp; </a:t>
            </a:r>
            <a:r>
              <a:rPr lang="en-US" sz="2000" dirty="0" err="1">
                <a:latin typeface="Century Gothic"/>
                <a:ea typeface="Calibri"/>
                <a:cs typeface="Arial"/>
              </a:rPr>
              <a:t>attendus</a:t>
            </a:r>
            <a:endParaRPr lang="en-US" sz="2000" dirty="0">
              <a:latin typeface="Century Gothic"/>
              <a:ea typeface="Calibri"/>
              <a:cs typeface="Arial"/>
            </a:endParaRPr>
          </a:p>
          <a:p>
            <a:pPr marL="971550" lvl="1" indent="-514350">
              <a:lnSpc>
                <a:spcPct val="2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2000" dirty="0" err="1">
                <a:latin typeface="Century Gothic"/>
                <a:ea typeface="Calibri"/>
                <a:cs typeface="Arial"/>
              </a:rPr>
              <a:t>Livrables</a:t>
            </a:r>
            <a:endParaRPr lang="en-US" sz="2000" dirty="0">
              <a:latin typeface="Century Gothic"/>
              <a:ea typeface="Calibri"/>
              <a:cs typeface="Arial"/>
            </a:endParaRPr>
          </a:p>
          <a:p>
            <a:pPr marL="971550" lvl="1" indent="-514350">
              <a:lnSpc>
                <a:spcPct val="2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2000" dirty="0" err="1">
                <a:latin typeface="Century Gothic"/>
                <a:ea typeface="Calibri"/>
                <a:cs typeface="Arial"/>
              </a:rPr>
              <a:t>Organisation</a:t>
            </a:r>
            <a:r>
              <a:rPr lang="en-US" sz="2000" dirty="0">
                <a:latin typeface="Century Gothic"/>
                <a:ea typeface="Calibri"/>
                <a:cs typeface="Arial"/>
              </a:rPr>
              <a:t> </a:t>
            </a:r>
            <a:r>
              <a:rPr lang="en-US" sz="2000" dirty="0" err="1">
                <a:latin typeface="Century Gothic"/>
                <a:ea typeface="Calibri"/>
                <a:cs typeface="Arial"/>
              </a:rPr>
              <a:t>générale</a:t>
            </a:r>
            <a:endParaRPr lang="en-US" sz="2000" dirty="0">
              <a:latin typeface="Century Gothic"/>
              <a:ea typeface="Calibri"/>
              <a:cs typeface="Arial"/>
            </a:endParaRPr>
          </a:p>
          <a:p>
            <a:pPr marL="457200" indent="-457200">
              <a:lnSpc>
                <a:spcPct val="200000"/>
              </a:lnSpc>
              <a:buAutoNum type="romanUcPeriod"/>
            </a:pPr>
            <a:endParaRPr lang="en-US" sz="2000" dirty="0">
              <a:latin typeface="Century Gothic"/>
              <a:ea typeface="Calibri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815DE-70E1-B414-6A1D-7F75AF15690C}"/>
              </a:ext>
            </a:extLst>
          </p:cNvPr>
          <p:cNvSpPr txBox="1"/>
          <p:nvPr/>
        </p:nvSpPr>
        <p:spPr>
          <a:xfrm>
            <a:off x="6658309" y="1892456"/>
            <a:ext cx="4946431" cy="337990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200000"/>
              </a:lnSpc>
              <a:buClr>
                <a:srgbClr val="F28230"/>
              </a:buClr>
              <a:buFont typeface="+mj-lt"/>
              <a:buAutoNum type="romanUcPeriod" startAt="2"/>
            </a:pPr>
            <a:r>
              <a:rPr lang="en-US" sz="2000" b="1" dirty="0" err="1">
                <a:latin typeface="Century Gothic"/>
                <a:ea typeface="Calibri"/>
                <a:cs typeface="Arial"/>
              </a:rPr>
              <a:t>Périmètre</a:t>
            </a:r>
            <a:r>
              <a:rPr lang="en-US" sz="2000" b="1" dirty="0">
                <a:latin typeface="Century Gothic"/>
                <a:ea typeface="Calibri"/>
                <a:cs typeface="Arial"/>
              </a:rPr>
              <a:t> </a:t>
            </a:r>
            <a:r>
              <a:rPr lang="en-US" sz="2000" b="1" dirty="0" err="1">
                <a:latin typeface="Century Gothic"/>
                <a:ea typeface="Calibri"/>
                <a:cs typeface="Arial"/>
              </a:rPr>
              <a:t>fonctionnel</a:t>
            </a:r>
            <a:endParaRPr lang="en-US" sz="2000" b="1" dirty="0">
              <a:latin typeface="Century Gothic"/>
              <a:ea typeface="Calibri"/>
              <a:cs typeface="Arial"/>
            </a:endParaRPr>
          </a:p>
          <a:p>
            <a:pPr marL="971550" lvl="1" indent="-514350">
              <a:lnSpc>
                <a:spcPct val="200000"/>
              </a:lnSpc>
              <a:buClr>
                <a:srgbClr val="F28230"/>
              </a:buClr>
              <a:buFontTx/>
              <a:buChar char="►"/>
            </a:pPr>
            <a:r>
              <a:rPr lang="en-US" sz="2000" dirty="0">
                <a:latin typeface="Century Gothic"/>
                <a:ea typeface="Calibri"/>
                <a:cs typeface="Arial"/>
              </a:rPr>
              <a:t>Interfaces</a:t>
            </a:r>
          </a:p>
          <a:p>
            <a:pPr marL="971550" lvl="1" indent="-514350">
              <a:lnSpc>
                <a:spcPct val="200000"/>
              </a:lnSpc>
              <a:buClr>
                <a:srgbClr val="F28230"/>
              </a:buClr>
              <a:buFontTx/>
              <a:buChar char="►"/>
            </a:pPr>
            <a:r>
              <a:rPr lang="en-US" sz="2000" dirty="0">
                <a:latin typeface="Century Gothic"/>
                <a:ea typeface="Calibri"/>
                <a:cs typeface="Arial"/>
              </a:rPr>
              <a:t>Données et </a:t>
            </a:r>
            <a:r>
              <a:rPr lang="en-US" sz="2000" dirty="0" err="1">
                <a:latin typeface="Century Gothic"/>
                <a:ea typeface="Calibri"/>
                <a:cs typeface="Arial"/>
              </a:rPr>
              <a:t>indicateurs</a:t>
            </a:r>
            <a:endParaRPr lang="en-US" sz="2000" dirty="0">
              <a:latin typeface="Century Gothic"/>
              <a:ea typeface="Calibri"/>
              <a:cs typeface="Arial"/>
            </a:endParaRPr>
          </a:p>
          <a:p>
            <a:pPr marL="971550" lvl="1" indent="-514350">
              <a:lnSpc>
                <a:spcPct val="200000"/>
              </a:lnSpc>
              <a:buClr>
                <a:srgbClr val="F28230"/>
              </a:buClr>
              <a:buFontTx/>
              <a:buChar char="►"/>
            </a:pPr>
            <a:r>
              <a:rPr lang="en-US" sz="2000" dirty="0" err="1">
                <a:latin typeface="Century Gothic"/>
                <a:ea typeface="Calibri"/>
                <a:cs typeface="Arial"/>
              </a:rPr>
              <a:t>Limites</a:t>
            </a:r>
            <a:r>
              <a:rPr lang="en-US" sz="2000" dirty="0">
                <a:latin typeface="Century Gothic"/>
                <a:ea typeface="Calibri"/>
                <a:cs typeface="Arial"/>
              </a:rPr>
              <a:t> du </a:t>
            </a:r>
            <a:r>
              <a:rPr lang="en-US" sz="2000" dirty="0" err="1">
                <a:latin typeface="Century Gothic"/>
                <a:ea typeface="Calibri"/>
                <a:cs typeface="Arial"/>
              </a:rPr>
              <a:t>projet</a:t>
            </a:r>
            <a:endParaRPr lang="en-US" sz="2000" dirty="0">
              <a:latin typeface="Century Gothic"/>
              <a:ea typeface="Calibri"/>
              <a:cs typeface="Arial"/>
            </a:endParaRPr>
          </a:p>
          <a:p>
            <a:pPr lvl="1"/>
            <a:endParaRPr lang="en-US" sz="2000" dirty="0">
              <a:latin typeface="Century Gothic"/>
              <a:ea typeface="Calibri"/>
              <a:cs typeface="Arial"/>
            </a:endParaRPr>
          </a:p>
          <a:p>
            <a:pPr marL="514350" indent="-514350">
              <a:lnSpc>
                <a:spcPct val="200000"/>
              </a:lnSpc>
              <a:buClr>
                <a:srgbClr val="F28230"/>
              </a:buClr>
              <a:buFont typeface="+mj-lt"/>
              <a:buAutoNum type="romanUcPeriod" startAt="2"/>
            </a:pPr>
            <a:r>
              <a:rPr lang="en-US" sz="2000" b="1" dirty="0">
                <a:latin typeface="Century Gothic"/>
                <a:ea typeface="Calibri"/>
                <a:cs typeface="Arial"/>
              </a:rPr>
              <a:t>Questions &amp; </a:t>
            </a:r>
            <a:r>
              <a:rPr lang="en-US" sz="2000" b="1" dirty="0" err="1">
                <a:latin typeface="Century Gothic"/>
                <a:ea typeface="Calibri"/>
                <a:cs typeface="Arial"/>
              </a:rPr>
              <a:t>échanges</a:t>
            </a:r>
            <a:endParaRPr lang="en-US" sz="2000" b="1" dirty="0">
              <a:latin typeface="Century Gothic"/>
              <a:ea typeface="Calibri"/>
              <a:cs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46167D-7A2C-B7D5-FEB5-7806E4894B7F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Ordre du jour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4BBE7A8-4275-D981-1B1A-47B10C7C3DC8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7" name="Image 1">
              <a:extLst>
                <a:ext uri="{FF2B5EF4-FFF2-40B4-BE49-F238E27FC236}">
                  <a16:creationId xmlns:a16="http://schemas.microsoft.com/office/drawing/2014/main" id="{E58AF37C-3DD8-D1A7-3460-9FA70D2E9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8" name="Image 4">
              <a:extLst>
                <a:ext uri="{FF2B5EF4-FFF2-40B4-BE49-F238E27FC236}">
                  <a16:creationId xmlns:a16="http://schemas.microsoft.com/office/drawing/2014/main" id="{D9787707-1CC6-4DB6-814A-D2EDA1100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99FC3976-20E8-F51F-C59C-ADE4D40F1709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3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2289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CD71-D87B-6E14-7631-1F36056D4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11EAB-097C-7733-EC9A-ACA3EC0A98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4071" y="1703524"/>
            <a:ext cx="10147682" cy="40560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Pressions anthropiques et climatiques → quantité, qualité de l’eau</a:t>
            </a: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Artificialisation des sols et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dégradation du couvert 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(incendies, </a:t>
            </a:r>
            <a:r>
              <a:rPr lang="fr-FR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ee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, exploitation)</a:t>
            </a:r>
          </a:p>
          <a:p>
            <a:pPr marL="1028700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/>
                <a:ea typeface="Calibri Light"/>
                <a:cs typeface="Calibri Light"/>
              </a:rPr>
              <a:t>Couverture végétale dégradée dans 90% des PPE (Andreoli R. et al., 2016)</a:t>
            </a:r>
          </a:p>
          <a:p>
            <a:pPr marL="1028700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/>
                <a:ea typeface="Calibri Light"/>
                <a:cs typeface="Calibri Light"/>
              </a:rPr>
              <a:t>200 cours d’eau </a:t>
            </a:r>
            <a:r>
              <a:rPr lang="fr-FR" sz="1600" dirty="0" err="1">
                <a:latin typeface="Century Gothic"/>
                <a:ea typeface="Calibri Light"/>
                <a:cs typeface="Calibri Light"/>
              </a:rPr>
              <a:t>surengravés</a:t>
            </a:r>
            <a:r>
              <a:rPr lang="fr-FR" sz="1600" dirty="0">
                <a:latin typeface="Century Gothic"/>
                <a:ea typeface="Calibri Light"/>
                <a:cs typeface="Calibri Light"/>
              </a:rPr>
              <a:t> sur un linéaire de 600 km (Fonds nickel 2019)</a:t>
            </a: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Rejets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polluants 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/ eaux usées non traitées ; assainissement perfectible</a:t>
            </a: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Climat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local : précipitations inégalement réparties (temps, durée, espace)</a:t>
            </a: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64% des captages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sur des cours d’eau 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(vs 5% en métropole) : plus exposés</a:t>
            </a:r>
          </a:p>
          <a:p>
            <a:pPr algn="just">
              <a:lnSpc>
                <a:spcPct val="150000"/>
              </a:lnSpc>
              <a:buClr>
                <a:srgbClr val="F28230"/>
              </a:buClr>
            </a:pPr>
            <a:endParaRPr lang="fr-FR" sz="1800" dirty="0">
              <a:latin typeface="Century Gothic"/>
              <a:ea typeface="Calibri Light"/>
              <a:cs typeface="Calibri Light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82E4A6C5-3716-7438-687C-996D13002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F1B9935-FA5D-8827-4CE5-1B686242D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CE0E57-5BA2-9931-22BF-D0389978AE87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11519E7-0133-C1B2-673A-81481288D283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7124DDB-8A87-CF65-B9B5-2A1EFBF20626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Contexte : une ressource menacée</a:t>
            </a:r>
            <a:r>
              <a:rPr lang="fr-FR" sz="3200">
                <a:solidFill>
                  <a:schemeClr val="accent1"/>
                </a:solidFill>
                <a:latin typeface="Century Gothic"/>
              </a:rPr>
              <a:t> en NC</a:t>
            </a:r>
            <a:endParaRPr lang="en-US" sz="3200" dirty="0">
              <a:solidFill>
                <a:schemeClr val="accent1"/>
              </a:solidFill>
            </a:endParaRP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1A4061A-2EE7-4DC4-75BE-000F85FDBA25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8" name="Image 1">
              <a:extLst>
                <a:ext uri="{FF2B5EF4-FFF2-40B4-BE49-F238E27FC236}">
                  <a16:creationId xmlns:a16="http://schemas.microsoft.com/office/drawing/2014/main" id="{BF8B800F-1AA1-9760-83DE-EAD4DA7DD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9" name="Image 4">
              <a:extLst>
                <a:ext uri="{FF2B5EF4-FFF2-40B4-BE49-F238E27FC236}">
                  <a16:creationId xmlns:a16="http://schemas.microsoft.com/office/drawing/2014/main" id="{97D73D7D-8D91-596D-6F42-3A35FED49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20" name="Espace réservé du numéro de diapositive 5">
            <a:extLst>
              <a:ext uri="{FF2B5EF4-FFF2-40B4-BE49-F238E27FC236}">
                <a16:creationId xmlns:a16="http://schemas.microsoft.com/office/drawing/2014/main" id="{80AB7463-819C-0537-17A4-815E4C6B01DA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4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59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4878A-B464-6155-5E4C-6A47ACC3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003DA-CEF1-97DB-BCB5-A3C9C33FD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4071" y="1703524"/>
            <a:ext cx="10147682" cy="40560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Changement climatique : d’ici 2100, </a:t>
            </a:r>
          </a:p>
          <a:p>
            <a:pPr marL="1028700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+3°, -20% de </a:t>
            </a:r>
            <a:r>
              <a:rPr lang="fr-FR" sz="1600" dirty="0">
                <a:latin typeface="Century Gothic"/>
                <a:ea typeface="Calibri Light"/>
                <a:cs typeface="Calibri Light"/>
              </a:rPr>
              <a:t>précipitation (Menkes C. et al. 2019) → sécheresse</a:t>
            </a:r>
          </a:p>
          <a:p>
            <a:pPr marL="1028700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/>
                <a:ea typeface="Calibri Light"/>
                <a:cs typeface="Calibri Light"/>
              </a:rPr>
              <a:t>M</a:t>
            </a:r>
            <a:r>
              <a:rPr lang="fr-FR" sz="16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ontée eaux 50 cm (GIEC 2023 scénario intermédiaire) </a:t>
            </a:r>
            <a:r>
              <a:rPr lang="fr-FR" sz="1600" dirty="0">
                <a:latin typeface="Century Gothic"/>
                <a:ea typeface="Calibri Light"/>
                <a:cs typeface="Calibri Light"/>
              </a:rPr>
              <a:t>→ remontée biseau salée</a:t>
            </a:r>
            <a:endParaRPr lang="fr-FR" sz="1600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Aménagements, surexploitation : débit biologique, intrusion saline due au pompage</a:t>
            </a: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Surconsommation : </a:t>
            </a:r>
            <a:r>
              <a:rPr lang="fr-FR" sz="1800" dirty="0"/>
              <a:t> 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jusqu'à 1 600 litres prélevés / jour / personne sur la côte Est !</a:t>
            </a:r>
          </a:p>
          <a:p>
            <a:pPr marL="342900" indent="-342900" algn="just">
              <a:lnSpc>
                <a:spcPct val="2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Ressource à préserver : enjeux majeurs pour les 264 596 habitants de la NC</a:t>
            </a: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Population à sensibiliser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1800" dirty="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7949EB0A-E18B-22CC-46FD-0CD97BB62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6147E6B-E7D5-AD9B-491E-1236B7303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306D35-235F-9139-3388-CEEF35A1F3AA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19C6F6F-0298-CC2E-D722-0589A6CE3E2F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Contexte : une ressource menacée en NC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E2FC4-5568-E684-BE93-26CF7646266D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BA64B53D-9CE9-65F2-6D30-3C5BE28D8B60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20" name="Image 1">
              <a:extLst>
                <a:ext uri="{FF2B5EF4-FFF2-40B4-BE49-F238E27FC236}">
                  <a16:creationId xmlns:a16="http://schemas.microsoft.com/office/drawing/2014/main" id="{728B7302-ADCD-3E4A-BC1D-77E130C24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21" name="Image 4">
              <a:extLst>
                <a:ext uri="{FF2B5EF4-FFF2-40B4-BE49-F238E27FC236}">
                  <a16:creationId xmlns:a16="http://schemas.microsoft.com/office/drawing/2014/main" id="{E59696BD-31B4-6592-ADB6-122455B74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22" name="Espace réservé du numéro de diapositive 5">
            <a:extLst>
              <a:ext uri="{FF2B5EF4-FFF2-40B4-BE49-F238E27FC236}">
                <a16:creationId xmlns:a16="http://schemas.microsoft.com/office/drawing/2014/main" id="{2D503CFE-7F2F-AE44-813C-273E85304D73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5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348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5400-1B56-C276-E3DB-5D475F81E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F3A1D-50B3-F5F0-E82F-3753CD9F35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4071" y="1703524"/>
            <a:ext cx="10147682" cy="40560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Ateliers PEP 2019 : </a:t>
            </a:r>
          </a:p>
          <a:p>
            <a:pPr marL="1028700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Peu de données (géo, </a:t>
            </a:r>
            <a:r>
              <a:rPr lang="fr-FR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piézo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, pompage…) ou cantonnées / pas rentabilisées</a:t>
            </a:r>
          </a:p>
          <a:p>
            <a:pPr marL="1028700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800" dirty="0">
                <a:latin typeface="Century Gothic"/>
                <a:ea typeface="Calibri Light"/>
                <a:cs typeface="Calibri Light"/>
              </a:rPr>
              <a:t>S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uivi compliqué </a:t>
            </a:r>
            <a:r>
              <a:rPr lang="fr-FR" sz="1800" dirty="0">
                <a:latin typeface="Century Gothic"/>
                <a:ea typeface="Calibri Light"/>
                <a:cs typeface="Calibri Light"/>
              </a:rPr>
              <a:t>: </a:t>
            </a:r>
            <a:r>
              <a:rPr lang="fr-FR" sz="1800" b="1" dirty="0">
                <a:latin typeface="Century Gothic"/>
                <a:ea typeface="Calibri Light"/>
                <a:cs typeface="Calibri Light"/>
              </a:rPr>
              <a:t>de + en + de PPE</a:t>
            </a:r>
            <a:endParaRPr lang="fr-FR" sz="1800" b="1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marL="1028700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800" dirty="0">
                <a:latin typeface="Century Gothic"/>
                <a:ea typeface="Calibri Light"/>
                <a:cs typeface="Calibri Light"/>
              </a:rPr>
              <a:t>Peu de coordination et de partage (compétences éclatées)</a:t>
            </a:r>
            <a:endParaRPr lang="fr-FR" sz="1800" i="1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marL="285750" indent="-285750" algn="just">
              <a:lnSpc>
                <a:spcPct val="2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Besoin d’une vision commune, d’une gestion éclairée et concertée</a:t>
            </a:r>
          </a:p>
          <a:p>
            <a:pPr marL="285750" indent="-285750" algn="just">
              <a:lnSpc>
                <a:spcPct val="1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endParaRPr lang="fr-FR" sz="1800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algn="just">
              <a:lnSpc>
                <a:spcPct val="150000"/>
              </a:lnSpc>
              <a:buClr>
                <a:srgbClr val="F28230"/>
              </a:buClr>
            </a:pPr>
            <a:r>
              <a:rPr lang="fr-FR" sz="1800" i="1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Nécessité d'outils pour le </a:t>
            </a:r>
            <a:r>
              <a:rPr lang="fr-FR" sz="1800" b="1" i="1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suivi</a:t>
            </a:r>
            <a:r>
              <a:rPr lang="fr-FR" sz="1800" i="1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 de la ressource en eau, le </a:t>
            </a:r>
            <a:r>
              <a:rPr lang="fr-FR" sz="1800" b="1" i="1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partage</a:t>
            </a:r>
            <a:r>
              <a:rPr lang="fr-FR" sz="1800" i="1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 d'informations entre acteurs et la </a:t>
            </a:r>
            <a:r>
              <a:rPr lang="fr-FR" sz="1800" b="1" i="1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sensibilisation</a:t>
            </a:r>
            <a:r>
              <a:rPr lang="fr-FR" sz="1800" i="1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 du grand public</a:t>
            </a:r>
          </a:p>
          <a:p>
            <a:pPr marL="285750" indent="-285750" algn="just">
              <a:lnSpc>
                <a:spcPct val="2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endParaRPr lang="fr-FR" sz="1800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marL="285750" indent="-285750" algn="just">
              <a:lnSpc>
                <a:spcPct val="2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endParaRPr lang="fr-FR" sz="1800" dirty="0">
              <a:solidFill>
                <a:schemeClr val="tx1"/>
              </a:solidFill>
              <a:latin typeface="Century Gothic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1800" dirty="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E4EE293-C90B-4D94-DF2B-5D2D6A62A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C319506A-1DA3-296E-139B-0BEC1C4DF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3B94768-FBC7-5A38-BCDE-1F0DB56786DD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0F4A31C-CEB9-6339-C0EC-D7ECD0270FD4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Contexte : une gestion à renforcer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88C7D3A-0BFE-E529-A35D-14DF1AD1BE61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E7B5A049-284B-FD82-EE18-E6284A7FA43C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24" name="Image 1">
              <a:extLst>
                <a:ext uri="{FF2B5EF4-FFF2-40B4-BE49-F238E27FC236}">
                  <a16:creationId xmlns:a16="http://schemas.microsoft.com/office/drawing/2014/main" id="{7B5BC5FC-280C-FE0D-8A7F-8B204155D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25" name="Image 4">
              <a:extLst>
                <a:ext uri="{FF2B5EF4-FFF2-40B4-BE49-F238E27FC236}">
                  <a16:creationId xmlns:a16="http://schemas.microsoft.com/office/drawing/2014/main" id="{88064965-225B-A3CF-A123-D63461F61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26" name="Espace réservé du numéro de diapositive 5">
            <a:extLst>
              <a:ext uri="{FF2B5EF4-FFF2-40B4-BE49-F238E27FC236}">
                <a16:creationId xmlns:a16="http://schemas.microsoft.com/office/drawing/2014/main" id="{13143A98-A562-85B9-6D92-5019B57CB54A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6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8425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F5796-8D0E-8DBF-65B8-CCD12150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EF41-8426-38AC-6C1C-6C4C7B45B5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6968" y="1703525"/>
            <a:ext cx="4521936" cy="34399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 panose="020B0502020202020204" pitchFamily="34" charset="0"/>
                <a:ea typeface="Calibri Light"/>
                <a:cs typeface="Calibri Light"/>
              </a:rPr>
              <a:t>Projet réalisé en 2021 par l’Œil  pour la DAVAR : 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</a:p>
          <a:p>
            <a:pPr marL="971550" lvl="1" indent="-285750"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Indicateurs  (PPE/PPR)</a:t>
            </a:r>
          </a:p>
          <a:p>
            <a:pPr marL="971550" lvl="1" indent="-285750"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b="1" dirty="0">
                <a:solidFill>
                  <a:schemeClr val="accent1"/>
                </a:solidFill>
                <a:latin typeface="Century Gothic"/>
                <a:ea typeface="Calibri Light"/>
                <a:cs typeface="Calibri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Tableau de bord</a:t>
            </a:r>
            <a:endParaRPr lang="fr-FR" sz="1800" b="1" dirty="0">
              <a:solidFill>
                <a:schemeClr val="accent1"/>
              </a:solidFill>
              <a:latin typeface="Century Gothic"/>
              <a:ea typeface="Calibri Light"/>
              <a:cs typeface="Calibri Light"/>
            </a:endParaRPr>
          </a:p>
          <a:p>
            <a:pPr lvl="2" indent="0" algn="just">
              <a:lnSpc>
                <a:spcPct val="100000"/>
              </a:lnSpc>
              <a:spcBef>
                <a:spcPts val="0"/>
              </a:spcBef>
              <a:buClr>
                <a:srgbClr val="F28230"/>
              </a:buClr>
              <a:buNone/>
            </a:pPr>
            <a:endParaRPr lang="fr-FR" sz="1800" b="1" i="1" dirty="0">
              <a:solidFill>
                <a:schemeClr val="accent1"/>
              </a:solidFill>
              <a:latin typeface="Century Gothic"/>
              <a:ea typeface="Calibri Light"/>
              <a:cs typeface="Calibri Light"/>
            </a:endParaRP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 panose="020B0502020202020204" pitchFamily="34" charset="0"/>
                <a:ea typeface="Calibri Light"/>
                <a:cs typeface="Calibri Light"/>
              </a:rPr>
              <a:t>Outil Province Nord (MAGIS) : </a:t>
            </a:r>
            <a:r>
              <a:rPr lang="fr-FR" sz="1800" b="1" dirty="0">
                <a:solidFill>
                  <a:schemeClr val="tx1"/>
                </a:solidFill>
                <a:latin typeface="Century Gothic" panose="020B0502020202020204" pitchFamily="34" charset="0"/>
                <a:ea typeface="Calibri Light"/>
                <a:cs typeface="Calibri Light"/>
              </a:rPr>
              <a:t>analyse multicritère</a:t>
            </a:r>
            <a:r>
              <a:rPr lang="fr-FR" sz="1800" dirty="0">
                <a:solidFill>
                  <a:schemeClr val="tx1"/>
                </a:solidFill>
                <a:latin typeface="Century Gothic" panose="020B0502020202020204" pitchFamily="34" charset="0"/>
                <a:ea typeface="Calibri Light"/>
                <a:cs typeface="Calibri Light"/>
              </a:rPr>
              <a:t>, pondération sur maille raster ajustable</a:t>
            </a:r>
          </a:p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×"/>
            </a:pPr>
            <a:endParaRPr lang="en-US" dirty="0">
              <a:latin typeface="Century Gothic"/>
              <a:cs typeface="Calibri Ligh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08FFF845-BDEA-B71F-0F89-102A30087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0833088-A388-0341-6A70-5C6B83D37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7A0BAC-2888-9F63-637A-10C8F8E449F4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8035871-B374-03F6-CFA7-66682BAFF14A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Contexte : des outils limités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1663DC-EB8B-A157-A7CD-DCF8CCFBF017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4690735-BB49-A859-A4AF-3CF07BA54FF4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20" name="Image 1">
              <a:extLst>
                <a:ext uri="{FF2B5EF4-FFF2-40B4-BE49-F238E27FC236}">
                  <a16:creationId xmlns:a16="http://schemas.microsoft.com/office/drawing/2014/main" id="{B868F516-4F3A-6D16-9FFC-61BB71B8C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21" name="Image 4">
              <a:extLst>
                <a:ext uri="{FF2B5EF4-FFF2-40B4-BE49-F238E27FC236}">
                  <a16:creationId xmlns:a16="http://schemas.microsoft.com/office/drawing/2014/main" id="{1F7C671F-807D-FE47-8FC6-C41EB9D85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22" name="Espace réservé du numéro de diapositive 5">
            <a:extLst>
              <a:ext uri="{FF2B5EF4-FFF2-40B4-BE49-F238E27FC236}">
                <a16:creationId xmlns:a16="http://schemas.microsoft.com/office/drawing/2014/main" id="{67FE10C5-2980-EF2D-8087-9F16D5077994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7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BB370A6D-7E43-7A86-8FB9-4C3B81C58D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3097" y="1878742"/>
            <a:ext cx="5752381" cy="274285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9D2D2CF-1B1A-CEE1-B5B5-DCBAC0105D6D}"/>
              </a:ext>
            </a:extLst>
          </p:cNvPr>
          <p:cNvSpPr txBox="1"/>
          <p:nvPr/>
        </p:nvSpPr>
        <p:spPr>
          <a:xfrm>
            <a:off x="1574071" y="5371589"/>
            <a:ext cx="10361407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Century Gothic" panose="020B0502020202020204" pitchFamily="34" charset="0"/>
              <a:buChar char="Χ"/>
            </a:pPr>
            <a:r>
              <a:rPr lang="en-US" sz="1800" b="1" dirty="0" err="1">
                <a:latin typeface="Century Gothic" panose="020B0502020202020204" pitchFamily="34" charset="0"/>
                <a:ea typeface="Calibri Light"/>
                <a:cs typeface="Calibri Light"/>
              </a:rPr>
              <a:t>Limites</a:t>
            </a:r>
            <a:r>
              <a:rPr lang="en-US" sz="1800" dirty="0">
                <a:latin typeface="Century Gothic" panose="020B0502020202020204" pitchFamily="34" charset="0"/>
                <a:ea typeface="Calibri Light"/>
                <a:cs typeface="Calibri Light"/>
              </a:rPr>
              <a:t> : </a:t>
            </a:r>
            <a:r>
              <a:rPr lang="en-US" sz="1800" dirty="0" err="1">
                <a:latin typeface="Century Gothic" panose="020B0502020202020204" pitchFamily="34" charset="0"/>
                <a:ea typeface="Calibri Light"/>
                <a:cs typeface="Calibri Light"/>
              </a:rPr>
              <a:t>dépendance</a:t>
            </a:r>
            <a:r>
              <a:rPr lang="en-US" sz="1800" dirty="0">
                <a:latin typeface="Century Gothic" panose="020B0502020202020204" pitchFamily="34" charset="0"/>
                <a:ea typeface="Calibri Light"/>
                <a:cs typeface="Calibri Light"/>
              </a:rPr>
              <a:t> à ArcGIS, mises à jour </a:t>
            </a:r>
            <a:r>
              <a:rPr lang="en-US" sz="1800" dirty="0" err="1">
                <a:latin typeface="Century Gothic" panose="020B0502020202020204" pitchFamily="34" charset="0"/>
                <a:ea typeface="Calibri Light"/>
                <a:cs typeface="Calibri Light"/>
              </a:rPr>
              <a:t>manuelles</a:t>
            </a:r>
            <a:r>
              <a:rPr lang="en-US" sz="1800" dirty="0">
                <a:latin typeface="Century Gothic" panose="020B0502020202020204" pitchFamily="34" charset="0"/>
                <a:ea typeface="Calibri Light"/>
                <a:cs typeface="Calibri Light"/>
              </a:rPr>
              <a:t>,  absence </a:t>
            </a:r>
            <a:r>
              <a:rPr lang="en-US" sz="1800" dirty="0" err="1">
                <a:latin typeface="Century Gothic" panose="020B0502020202020204" pitchFamily="34" charset="0"/>
                <a:ea typeface="Calibri Light"/>
                <a:cs typeface="Calibri Light"/>
              </a:rPr>
              <a:t>d’historisation</a:t>
            </a:r>
            <a:r>
              <a:rPr lang="en-US" sz="1800" dirty="0">
                <a:latin typeface="Century Gothic" panose="020B0502020202020204" pitchFamily="34" charset="0"/>
                <a:ea typeface="Calibri Light"/>
                <a:cs typeface="Calibri Light"/>
              </a:rPr>
              <a:t>, interface unique trop technique...</a:t>
            </a:r>
            <a:endParaRPr lang="fr-FR" sz="1800" dirty="0">
              <a:latin typeface="Century Gothic" panose="020B0502020202020204" pitchFamily="34" charset="0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6776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9F6F-8120-5A81-77C8-CD34CB158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2BE56-76E1-2C95-0D57-58FE0624A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4071" y="1703524"/>
            <a:ext cx="10147682" cy="40560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Réglementations en cours : loi pays 15 juillet 2025</a:t>
            </a:r>
          </a:p>
          <a:p>
            <a:pPr marL="971550" lvl="1" indent="-28575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800" dirty="0">
                <a:latin typeface="Century Gothic"/>
                <a:ea typeface="Calibri Light"/>
                <a:cs typeface="Calibri Light"/>
              </a:rPr>
              <a:t>Aménagements, prélèvements/rejets, PPE</a:t>
            </a:r>
          </a:p>
          <a:p>
            <a:pPr marL="1428750" lvl="2" indent="-285750" algn="just">
              <a:lnSpc>
                <a:spcPct val="150000"/>
              </a:lnSpc>
              <a:buClr>
                <a:srgbClr val="F28230"/>
              </a:buClr>
              <a:buFont typeface="Wingdings" panose="05000000000000000000" pitchFamily="2" charset="2"/>
              <a:buChar char="§"/>
            </a:pPr>
            <a:r>
              <a:rPr lang="fr-FR" sz="1600" dirty="0">
                <a:latin typeface="Century Gothic"/>
                <a:ea typeface="Calibri Light"/>
                <a:cs typeface="Calibri Light"/>
              </a:rPr>
              <a:t>PPE vont continuer d’augmenter, encore la moitié des captages sans PPE (180 sur 400)</a:t>
            </a:r>
          </a:p>
          <a:p>
            <a:pPr marL="971550" lvl="1" indent="-28575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Pas encore de réglementation sur la qualité de l’eau distribuée (sauf PSSE)</a:t>
            </a:r>
          </a:p>
          <a:p>
            <a:pPr marL="1428750" lvl="2" indent="-285750" algn="just">
              <a:lnSpc>
                <a:spcPct val="150000"/>
              </a:lnSpc>
              <a:buClr>
                <a:srgbClr val="F28230"/>
              </a:buClr>
              <a:buFont typeface="Wingdings" panose="05000000000000000000" pitchFamily="2" charset="2"/>
              <a:buChar char="§"/>
            </a:pPr>
            <a:r>
              <a:rPr lang="fr-FR" sz="1600" dirty="0">
                <a:latin typeface="Century Gothic"/>
                <a:ea typeface="Calibri Light"/>
                <a:cs typeface="Calibri Light"/>
              </a:rPr>
              <a:t>38% des UD sans traitement </a:t>
            </a:r>
            <a:r>
              <a:rPr lang="fr-FR" sz="1600" dirty="0" err="1">
                <a:latin typeface="Century Gothic"/>
                <a:ea typeface="Calibri Light"/>
                <a:cs typeface="Calibri Light"/>
              </a:rPr>
              <a:t>bactério</a:t>
            </a:r>
            <a:r>
              <a:rPr lang="fr-FR" sz="1600" dirty="0">
                <a:latin typeface="Century Gothic"/>
                <a:ea typeface="Calibri Light"/>
                <a:cs typeface="Calibri Light"/>
              </a:rPr>
              <a:t>, c° métaux lourds &gt; recommandations OMS</a:t>
            </a:r>
          </a:p>
          <a:p>
            <a:pPr marL="1428750" lvl="2" indent="-285750" algn="just">
              <a:lnSpc>
                <a:spcPct val="150000"/>
              </a:lnSpc>
              <a:buClr>
                <a:srgbClr val="F28230"/>
              </a:buClr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2</a:t>
            </a:r>
            <a:r>
              <a:rPr lang="fr-FR" sz="1600" baseline="300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e</a:t>
            </a:r>
            <a:r>
              <a:rPr lang="fr-FR" sz="16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volet loi pays : feu vert Forum de l’eau 2025 (feuille de route 2026)</a:t>
            </a:r>
          </a:p>
          <a:p>
            <a:pPr marL="285750" indent="-285750" algn="just">
              <a:lnSpc>
                <a:spcPct val="100000"/>
              </a:lnSpc>
              <a:buClr>
                <a:srgbClr val="F28230"/>
              </a:buClr>
              <a:buFont typeface="Wingdings" panose="05000000000000000000" pitchFamily="2" charset="2"/>
              <a:buChar char="§"/>
            </a:pPr>
            <a:endParaRPr lang="fr-FR" sz="1600" i="1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marL="285750" indent="-285750"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Outils à améliorer pour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maintenir la dynamique </a:t>
            </a: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et accompagner ces changements</a:t>
            </a:r>
          </a:p>
          <a:p>
            <a:pPr algn="just"/>
            <a:endParaRPr lang="fr-FR" sz="1800" dirty="0">
              <a:solidFill>
                <a:schemeClr val="tx1"/>
              </a:solidFill>
              <a:latin typeface="Century Gothic"/>
            </a:endParaRPr>
          </a:p>
          <a:p>
            <a:pPr algn="just"/>
            <a:endParaRPr lang="fr-FR" sz="1800" dirty="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73DC4D8D-3FC0-55B4-B1A2-7A497EBB7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D3EFF4E-C773-8477-6671-B0FB6696D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BB42F-C6A0-B93E-1AF6-F51D9BC9E448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29BC312-927B-9ED4-315C-BB3EB1B2824C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Contexte : des changements en cours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0950050-0505-AA05-AA98-6B926183B35B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9C7FF98-6C44-B416-3D9D-7E2200331113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20" name="Image 1">
              <a:extLst>
                <a:ext uri="{FF2B5EF4-FFF2-40B4-BE49-F238E27FC236}">
                  <a16:creationId xmlns:a16="http://schemas.microsoft.com/office/drawing/2014/main" id="{3F55BCBF-B3C1-3CA3-EE68-20E937460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21" name="Image 4">
              <a:extLst>
                <a:ext uri="{FF2B5EF4-FFF2-40B4-BE49-F238E27FC236}">
                  <a16:creationId xmlns:a16="http://schemas.microsoft.com/office/drawing/2014/main" id="{536A2D5C-3F44-8CEF-4E6F-6AB40E03F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22" name="Espace réservé du numéro de diapositive 5">
            <a:extLst>
              <a:ext uri="{FF2B5EF4-FFF2-40B4-BE49-F238E27FC236}">
                <a16:creationId xmlns:a16="http://schemas.microsoft.com/office/drawing/2014/main" id="{53280D89-4A6A-9D4B-A932-F3572E3029FB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8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967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A883C-49C8-062C-AB41-9ED42AB5F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ADA6D-AB31-E97D-0BF6-48765B45BB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4070" y="1763108"/>
            <a:ext cx="10445871" cy="42348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ct val="20000"/>
              </a:spcBef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Projet « </a:t>
            </a:r>
            <a:r>
              <a:rPr lang="fr-FR" sz="1800" dirty="0" err="1">
                <a:solidFill>
                  <a:schemeClr val="tx1"/>
                </a:solidFill>
                <a:latin typeface="Century Gothic"/>
                <a:cs typeface="Calibri Light"/>
              </a:rPr>
              <a:t>HydroScope</a:t>
            </a: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 » visant à faire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cs typeface="Calibri Light"/>
              </a:rPr>
              <a:t>évoluer </a:t>
            </a: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l’outil </a:t>
            </a:r>
            <a:r>
              <a:rPr lang="fr-FR" sz="1800" dirty="0" err="1">
                <a:solidFill>
                  <a:schemeClr val="tx1"/>
                </a:solidFill>
                <a:latin typeface="Century Gothic"/>
                <a:cs typeface="Calibri Light"/>
              </a:rPr>
              <a:t>PressionPPE</a:t>
            </a:r>
            <a:endParaRPr lang="fr-FR" sz="1800" dirty="0">
              <a:solidFill>
                <a:schemeClr val="tx1"/>
              </a:solidFill>
              <a:latin typeface="Century Gothic"/>
              <a:cs typeface="Calibri Light"/>
            </a:endParaRPr>
          </a:p>
          <a:p>
            <a:pPr marL="971550" lvl="1" indent="-285750">
              <a:lnSpc>
                <a:spcPct val="150000"/>
              </a:lnSpc>
              <a:spcBef>
                <a:spcPct val="20000"/>
              </a:spcBef>
              <a:buClr>
                <a:srgbClr val="F28230"/>
              </a:buClr>
            </a:pPr>
            <a:r>
              <a:rPr lang="fr-FR" sz="1800" dirty="0">
                <a:latin typeface="Century Gothic"/>
                <a:cs typeface="Calibri Light"/>
              </a:rPr>
              <a:t>Nouveaux indicateurs, avec historisation et MAJ automatique (</a:t>
            </a:r>
            <a:r>
              <a:rPr lang="fr-FR" sz="1800" dirty="0" err="1">
                <a:latin typeface="Century Gothic"/>
                <a:cs typeface="Calibri Light"/>
              </a:rPr>
              <a:t>DynamicWorld</a:t>
            </a:r>
            <a:r>
              <a:rPr lang="fr-FR" sz="1800" dirty="0">
                <a:latin typeface="Century Gothic"/>
                <a:cs typeface="Calibri Light"/>
              </a:rPr>
              <a:t>…)</a:t>
            </a:r>
          </a:p>
          <a:p>
            <a:pPr marL="971550" lvl="1" indent="-285750">
              <a:lnSpc>
                <a:spcPct val="150000"/>
              </a:lnSpc>
              <a:spcBef>
                <a:spcPct val="20000"/>
              </a:spcBef>
              <a:buClr>
                <a:srgbClr val="F28230"/>
              </a:buClr>
            </a:pP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Analyse multicritère à l’échelle du territoire</a:t>
            </a:r>
          </a:p>
          <a:p>
            <a:pPr marL="971550" lvl="1" indent="-285750">
              <a:lnSpc>
                <a:spcPct val="150000"/>
              </a:lnSpc>
              <a:spcBef>
                <a:spcPct val="20000"/>
              </a:spcBef>
              <a:buClr>
                <a:srgbClr val="F28230"/>
              </a:buClr>
            </a:pP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Technologies li</a:t>
            </a:r>
            <a:r>
              <a:rPr lang="fr-FR" sz="1800" dirty="0">
                <a:latin typeface="Century Gothic"/>
                <a:cs typeface="Calibri Light"/>
              </a:rPr>
              <a:t>bres et open-source (</a:t>
            </a:r>
            <a:r>
              <a:rPr lang="fr-FR" sz="1800" dirty="0" err="1">
                <a:latin typeface="Century Gothic"/>
                <a:cs typeface="Calibri Light"/>
              </a:rPr>
              <a:t>PostGIS</a:t>
            </a:r>
            <a:r>
              <a:rPr lang="fr-FR" sz="1800" dirty="0">
                <a:latin typeface="Century Gothic"/>
                <a:cs typeface="Calibri Light"/>
              </a:rPr>
              <a:t>)</a:t>
            </a:r>
          </a:p>
          <a:p>
            <a:pPr marL="971550" lvl="1" indent="-285750">
              <a:lnSpc>
                <a:spcPct val="150000"/>
              </a:lnSpc>
              <a:spcBef>
                <a:spcPct val="20000"/>
              </a:spcBef>
              <a:buClr>
                <a:srgbClr val="F28230"/>
              </a:buClr>
            </a:pP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Interfaces adaptées aux différents publics</a:t>
            </a: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Financement :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cs typeface="Calibri Light"/>
              </a:rPr>
              <a:t>fonds PEP</a:t>
            </a: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,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cs typeface="Calibri Light"/>
              </a:rPr>
              <a:t>OFB</a:t>
            </a: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 venu en soutien ; ŒIL en RH</a:t>
            </a:r>
          </a:p>
          <a:p>
            <a:pPr marL="970915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800" dirty="0">
                <a:latin typeface="Century Gothic"/>
                <a:cs typeface="Calibri Light"/>
              </a:rPr>
              <a:t>Convention NC : signée le 24 décembre 2024, durée initiale d’un an (avenant)</a:t>
            </a:r>
          </a:p>
          <a:p>
            <a:pPr marL="970915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800" dirty="0">
                <a:latin typeface="Century Gothic"/>
                <a:cs typeface="Calibri Light"/>
              </a:rPr>
              <a:t>Convention OFB : signée le 28/05/2025, fin en 31/03/2028</a:t>
            </a:r>
          </a:p>
          <a:p>
            <a:pPr marL="970915" lvl="1" indent="-342900" algn="just">
              <a:lnSpc>
                <a:spcPct val="150000"/>
              </a:lnSpc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fr-FR" sz="1800" b="1" dirty="0">
                <a:latin typeface="Century Gothic"/>
                <a:cs typeface="Calibri Light"/>
              </a:rPr>
              <a:t>Juin 2025 → décembre 2027</a:t>
            </a:r>
          </a:p>
          <a:p>
            <a:pPr marL="1028700" lvl="1" indent="-342900" algn="just"/>
            <a:endParaRPr lang="fr-FR" sz="1800" dirty="0">
              <a:solidFill>
                <a:schemeClr val="tx1"/>
              </a:solidFill>
              <a:latin typeface="Century Gothic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1800" dirty="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1000B796-1D83-E51D-CAC2-E54021FC8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D0F68A31-6B8F-D759-E140-289FCA5FE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4817E9E-7C72-C4A9-9AE3-636B37F12C94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C4E0C2F-99D5-C9FD-B97B-4C626771D22E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Contexte : projet </a:t>
            </a:r>
            <a:r>
              <a:rPr lang="fr-FR" sz="3200">
                <a:solidFill>
                  <a:schemeClr val="accent1"/>
                </a:solidFill>
                <a:latin typeface="Century Gothic"/>
              </a:rPr>
              <a:t>"HydroScope</a:t>
            </a:r>
            <a:r>
              <a:rPr lang="fr-FR" sz="3200" dirty="0">
                <a:solidFill>
                  <a:schemeClr val="accent1"/>
                </a:solidFill>
                <a:latin typeface="Century Gothic"/>
              </a:rPr>
              <a:t>"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97C45CE-6D44-6FA6-2281-9D2908147F84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9941725A-5E06-9E28-0685-44D94E5B4976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21" name="Image 1">
              <a:extLst>
                <a:ext uri="{FF2B5EF4-FFF2-40B4-BE49-F238E27FC236}">
                  <a16:creationId xmlns:a16="http://schemas.microsoft.com/office/drawing/2014/main" id="{A593A84C-FDFB-46B6-80F8-1101304A3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22" name="Image 4">
              <a:extLst>
                <a:ext uri="{FF2B5EF4-FFF2-40B4-BE49-F238E27FC236}">
                  <a16:creationId xmlns:a16="http://schemas.microsoft.com/office/drawing/2014/main" id="{CD7E2D0B-E1C8-C3AE-5CDB-9C8F14308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23" name="Espace réservé du numéro de diapositive 5">
            <a:extLst>
              <a:ext uri="{FF2B5EF4-FFF2-40B4-BE49-F238E27FC236}">
                <a16:creationId xmlns:a16="http://schemas.microsoft.com/office/drawing/2014/main" id="{015679A9-352E-FEE9-869A-B7EE780E8C24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9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2080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AC1FE-9C01-11CB-25D2-0E48C1ED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66A2-9203-7E5A-BC97-EF87932DD1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4071" y="1717071"/>
            <a:ext cx="10193450" cy="429012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628015" indent="-457200" algn="just">
              <a:lnSpc>
                <a:spcPct val="150000"/>
              </a:lnSpc>
              <a:buClr>
                <a:srgbClr val="F28230"/>
              </a:buClr>
              <a:buFont typeface="+mj-lt"/>
              <a:buAutoNum type="arabicPeriod"/>
            </a:pPr>
            <a:r>
              <a:rPr lang="fr-FR" sz="1800" i="1" dirty="0">
                <a:solidFill>
                  <a:schemeClr val="tx1"/>
                </a:solidFill>
                <a:latin typeface="Century Gothic"/>
                <a:cs typeface="Calibri Light"/>
              </a:rPr>
              <a:t>Mieux </a:t>
            </a:r>
            <a:r>
              <a:rPr lang="fr-FR" sz="1800" b="1" i="1" dirty="0">
                <a:solidFill>
                  <a:schemeClr val="tx1"/>
                </a:solidFill>
                <a:latin typeface="Century Gothic"/>
                <a:cs typeface="Calibri Light"/>
              </a:rPr>
              <a:t>caractériser </a:t>
            </a:r>
            <a:r>
              <a:rPr lang="fr-FR" sz="1800" i="1" dirty="0">
                <a:solidFill>
                  <a:schemeClr val="tx1"/>
                </a:solidFill>
                <a:latin typeface="Century Gothic"/>
                <a:cs typeface="Calibri Light"/>
              </a:rPr>
              <a:t>les bassins versants producteurs d’eau potable par leurs propriétés (relief, pluviométrie,...) et les pressions subies (urbanisation, incendies...) :</a:t>
            </a:r>
            <a:endParaRPr lang="en-US" sz="1800" i="1" dirty="0">
              <a:solidFill>
                <a:schemeClr val="tx1"/>
              </a:solidFill>
              <a:latin typeface="Century Gothic"/>
              <a:cs typeface="Calibri Light"/>
            </a:endParaRPr>
          </a:p>
          <a:p>
            <a:pPr marL="1028700" lvl="1" indent="-457200" algn="just">
              <a:lnSpc>
                <a:spcPct val="150000"/>
              </a:lnSpc>
              <a:buClr>
                <a:srgbClr val="F28230"/>
              </a:buClr>
              <a:buFont typeface="Century Gothic,Sans-Serif" panose="020B0604020202020204" pitchFamily="34" charset="0"/>
              <a:buChar char="►"/>
            </a:pP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La connaissance et gestion améliorées grâce de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cs typeface="Calibri Light"/>
              </a:rPr>
              <a:t>nouvelles informations </a:t>
            </a:r>
          </a:p>
          <a:p>
            <a:pPr marL="1028700" lvl="1" indent="-457200" algn="just">
              <a:lnSpc>
                <a:spcPct val="150000"/>
              </a:lnSpc>
              <a:buClr>
                <a:srgbClr val="F28230"/>
              </a:buClr>
              <a:buFont typeface="Century Gothic,Sans-Serif" panose="020B0604020202020204" pitchFamily="34" charset="0"/>
              <a:buChar char="►"/>
            </a:pP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Le niveau d’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cs typeface="Calibri Light"/>
              </a:rPr>
              <a:t>intégrité</a:t>
            </a: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 appréhendé grâce à une approche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cs typeface="Calibri Light"/>
              </a:rPr>
              <a:t>quantifiée </a:t>
            </a:r>
            <a:r>
              <a:rPr lang="fr-FR" sz="1800" dirty="0">
                <a:solidFill>
                  <a:schemeClr val="tx1"/>
                </a:solidFill>
                <a:latin typeface="Century Gothic"/>
                <a:cs typeface="Calibri Light"/>
              </a:rPr>
              <a:t>(définition de seuils, pondération entre les thématiques,…)</a:t>
            </a:r>
          </a:p>
          <a:p>
            <a:pPr marL="1028700" lvl="1" indent="-457200"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dirty="0">
                <a:latin typeface="Century Gothic"/>
                <a:ea typeface="+mn-lt"/>
                <a:cs typeface="+mn-lt"/>
              </a:rPr>
              <a:t>L’</a:t>
            </a:r>
            <a:r>
              <a:rPr lang="fr-FR" sz="1800" b="1" dirty="0">
                <a:latin typeface="Century Gothic"/>
                <a:ea typeface="+mn-lt"/>
                <a:cs typeface="+mn-lt"/>
              </a:rPr>
              <a:t>évolution </a:t>
            </a:r>
            <a:r>
              <a:rPr lang="fr-FR" sz="1800" dirty="0">
                <a:latin typeface="Century Gothic"/>
                <a:ea typeface="+mn-lt"/>
                <a:cs typeface="+mn-lt"/>
              </a:rPr>
              <a:t>des niveaux de pression sur la ressource caractérisée grâce à :</a:t>
            </a:r>
            <a:endParaRPr lang="en-US" sz="1800" dirty="0">
              <a:latin typeface="Century Gothic"/>
              <a:ea typeface="+mn-lt"/>
              <a:cs typeface="+mn-lt"/>
            </a:endParaRPr>
          </a:p>
          <a:p>
            <a:pPr marL="1313815" lvl="2" indent="-342900" algn="just">
              <a:lnSpc>
                <a:spcPct val="150000"/>
              </a:lnSpc>
              <a:buClr>
                <a:srgbClr val="F28230"/>
              </a:buClr>
            </a:pPr>
            <a:r>
              <a:rPr lang="fr-FR" sz="1800" dirty="0">
                <a:latin typeface="Century Gothic"/>
                <a:ea typeface="+mn-lt"/>
                <a:cs typeface="+mn-lt"/>
              </a:rPr>
              <a:t>données réactualisées fréquemment et au cycle de mise à jour maîtrisée</a:t>
            </a:r>
            <a:endParaRPr lang="en-US" sz="1800" dirty="0">
              <a:latin typeface="Century Gothic"/>
              <a:ea typeface="+mn-lt"/>
              <a:cs typeface="+mn-lt"/>
            </a:endParaRPr>
          </a:p>
          <a:p>
            <a:pPr marL="1313815" lvl="2" indent="-342900" algn="just">
              <a:lnSpc>
                <a:spcPct val="150000"/>
              </a:lnSpc>
              <a:buClr>
                <a:srgbClr val="F28230"/>
              </a:buClr>
            </a:pPr>
            <a:r>
              <a:rPr lang="fr-FR" sz="1800" dirty="0">
                <a:latin typeface="Century Gothic"/>
                <a:ea typeface="+mn-lt"/>
                <a:cs typeface="+mn-lt"/>
              </a:rPr>
              <a:t>détection automatique de changements à chaque intégration de nouvelles données</a:t>
            </a:r>
          </a:p>
          <a:p>
            <a:pPr marL="1028700" lvl="1" indent="-457200" algn="just">
              <a:lnSpc>
                <a:spcPct val="150000"/>
              </a:lnSpc>
              <a:buClr>
                <a:srgbClr val="F28230"/>
              </a:buClr>
              <a:buFont typeface="Century Gothic,Sans-Serif" panose="020B0604020202020204" pitchFamily="34" charset="0"/>
              <a:buChar char="►"/>
            </a:pPr>
            <a:endParaRPr lang="fr-FR" dirty="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pPr marL="1028700" lvl="1" indent="-342900" algn="just">
              <a:lnSpc>
                <a:spcPct val="150000"/>
              </a:lnSpc>
              <a:buFont typeface="+mj-lt"/>
              <a:buAutoNum type="arabicPeriod"/>
            </a:pPr>
            <a:endParaRPr lang="fr-FR" sz="1800" dirty="0">
              <a:latin typeface="Century Gothic" panose="020B0502020202020204" pitchFamily="34" charset="0"/>
            </a:endParaRPr>
          </a:p>
          <a:p>
            <a:pPr marL="1656715" lvl="2" indent="-342900" algn="just">
              <a:lnSpc>
                <a:spcPct val="150000"/>
              </a:lnSpc>
              <a:buFont typeface="+mj-lt"/>
              <a:buAutoNum type="arabicPeriod"/>
            </a:pPr>
            <a:endParaRPr lang="fr-FR" sz="1800" dirty="0">
              <a:latin typeface="Century Gothic" panose="020B0502020202020204" pitchFamily="34" charset="0"/>
            </a:endParaRPr>
          </a:p>
          <a:p>
            <a:pPr marL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7C4671-4C3B-7DFE-FE0C-8B78A8860ED0}"/>
              </a:ext>
            </a:extLst>
          </p:cNvPr>
          <p:cNvSpPr txBox="1">
            <a:spLocks/>
          </p:cNvSpPr>
          <p:nvPr/>
        </p:nvSpPr>
        <p:spPr>
          <a:xfrm>
            <a:off x="2052221" y="517526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dirty="0">
              <a:latin typeface="Century Gothic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4008B0D7-67D9-AE49-7A48-FAE16DEED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0EF10EEF-C935-556F-E9AF-B2A8A64BD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70F2F2-BD91-CD62-0D96-F7F3DDC69534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E330CB6-30C5-3DB9-FB96-FE8E2D507014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Objectifs et attendus</a:t>
            </a:r>
            <a:endParaRPr lang="en-US" sz="3200" dirty="0">
              <a:solidFill>
                <a:schemeClr val="accent1"/>
              </a:solidFill>
              <a:latin typeface="Century Gothic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A09DE3A-0E1F-E265-BEEE-9A2C7209D4B2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F7110B7-572C-3350-811C-92DB12E72EBA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9" name="Image 1">
              <a:extLst>
                <a:ext uri="{FF2B5EF4-FFF2-40B4-BE49-F238E27FC236}">
                  <a16:creationId xmlns:a16="http://schemas.microsoft.com/office/drawing/2014/main" id="{E76AAF38-DF1B-98D5-3252-D6FB57570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1" name="Image 4">
              <a:extLst>
                <a:ext uri="{FF2B5EF4-FFF2-40B4-BE49-F238E27FC236}">
                  <a16:creationId xmlns:a16="http://schemas.microsoft.com/office/drawing/2014/main" id="{86EBE56B-4528-9D27-5DF6-459D76DD2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19D8EF0-7BC5-50F8-2B01-3F6DE444B2FE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10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667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C6D48-356C-172E-3B0E-CCAA7601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68A73-FF05-8C4C-881F-A5CF5FD67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4071" y="1692472"/>
            <a:ext cx="9929680" cy="42647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3715" indent="-342900" algn="just">
              <a:lnSpc>
                <a:spcPct val="150000"/>
              </a:lnSpc>
              <a:buClr>
                <a:srgbClr val="F28230"/>
              </a:buClr>
              <a:buFont typeface="+mj-lt"/>
              <a:buAutoNum type="arabicPeriod" startAt="2"/>
            </a:pPr>
            <a:r>
              <a:rPr lang="fr-FR" sz="1800" i="1" dirty="0">
                <a:solidFill>
                  <a:schemeClr val="tx1"/>
                </a:solidFill>
                <a:latin typeface="Century Gothic"/>
                <a:cs typeface="Calibri Light"/>
              </a:rPr>
              <a:t>Permettre le </a:t>
            </a:r>
            <a:r>
              <a:rPr lang="fr-FR" sz="1800" b="1" i="1" dirty="0">
                <a:solidFill>
                  <a:schemeClr val="tx1"/>
                </a:solidFill>
                <a:latin typeface="Century Gothic"/>
                <a:cs typeface="Calibri Light"/>
              </a:rPr>
              <a:t>partage</a:t>
            </a:r>
            <a:r>
              <a:rPr lang="fr-FR" sz="1800" i="1" dirty="0">
                <a:solidFill>
                  <a:schemeClr val="tx1"/>
                </a:solidFill>
                <a:latin typeface="Century Gothic"/>
                <a:cs typeface="Calibri Light"/>
              </a:rPr>
              <a:t> et l'exploration des informations utiles sur ces périmètres et selon différentes échelles d'analyse (territoire, province, commune,...) :</a:t>
            </a:r>
            <a:endParaRPr lang="en-US" sz="1800" i="1" dirty="0">
              <a:solidFill>
                <a:schemeClr val="tx1"/>
              </a:solidFill>
              <a:latin typeface="Century Gothic"/>
              <a:cs typeface="Calibri Light"/>
            </a:endParaRPr>
          </a:p>
          <a:p>
            <a:pPr marL="971550" lvl="1" indent="-285750" algn="just">
              <a:lnSpc>
                <a:spcPct val="150000"/>
              </a:lnSpc>
              <a:spcBef>
                <a:spcPts val="2000"/>
              </a:spcBef>
              <a:buClr>
                <a:srgbClr val="F28230"/>
              </a:buClr>
              <a:buFont typeface="Century Gothic,Sans-Serif" panose="020B0502020202020204" pitchFamily="34" charset="0"/>
              <a:buChar char="►"/>
            </a:pPr>
            <a:r>
              <a:rPr lang="fr-FR" sz="1800" dirty="0">
                <a:latin typeface="Century Gothic"/>
                <a:cs typeface="Calibri Light"/>
              </a:rPr>
              <a:t>Les parties prenantes </a:t>
            </a:r>
            <a:r>
              <a:rPr lang="fr-FR" sz="1800" b="1" dirty="0">
                <a:latin typeface="Century Gothic"/>
                <a:cs typeface="Calibri Light"/>
              </a:rPr>
              <a:t>informées </a:t>
            </a:r>
            <a:r>
              <a:rPr lang="fr-FR" sz="1800" dirty="0">
                <a:latin typeface="Century Gothic"/>
                <a:cs typeface="Calibri Light"/>
              </a:rPr>
              <a:t>et partagent un </a:t>
            </a:r>
            <a:r>
              <a:rPr lang="fr-FR" sz="1800" b="1" dirty="0">
                <a:latin typeface="Century Gothic"/>
                <a:cs typeface="Calibri Light"/>
              </a:rPr>
              <a:t>même diagnostic </a:t>
            </a:r>
            <a:r>
              <a:rPr lang="fr-FR" sz="1800" dirty="0">
                <a:latin typeface="Century Gothic"/>
                <a:cs typeface="Calibri Light"/>
              </a:rPr>
              <a:t>(outil de consultation adapté à différents niveaux de maîtrise technique).</a:t>
            </a:r>
            <a:endParaRPr lang="en-US" sz="1800" dirty="0">
              <a:latin typeface="Century Gothic" panose="020B0502020202020204" pitchFamily="34" charset="0"/>
              <a:cs typeface="Calibri Light"/>
            </a:endParaRPr>
          </a:p>
          <a:p>
            <a:pPr marL="971550" lvl="1" indent="-285750" algn="just">
              <a:lnSpc>
                <a:spcPct val="150000"/>
              </a:lnSpc>
              <a:spcBef>
                <a:spcPts val="2000"/>
              </a:spcBef>
              <a:buClr>
                <a:srgbClr val="F28230"/>
              </a:buClr>
              <a:buFont typeface="Century Gothic,Sans-Serif" panose="020B0502020202020204" pitchFamily="34" charset="0"/>
              <a:buChar char="►"/>
            </a:pPr>
            <a:r>
              <a:rPr lang="fr-FR" sz="1800" b="1" dirty="0">
                <a:latin typeface="Century Gothic"/>
                <a:cs typeface="Calibri Light"/>
              </a:rPr>
              <a:t>Accès aux données</a:t>
            </a:r>
            <a:r>
              <a:rPr lang="fr-FR" sz="1800" dirty="0">
                <a:latin typeface="Century Gothic"/>
                <a:cs typeface="Calibri Light"/>
              </a:rPr>
              <a:t> et aux rapports pour favoriser leur exploitation</a:t>
            </a:r>
            <a:endParaRPr lang="fr-FR" dirty="0">
              <a:latin typeface="Calibri Light" panose="020F0302020204030204" pitchFamily="34" charset="0"/>
              <a:ea typeface="Calibri Light" panose="020F0302020204030204" pitchFamily="34" charset="0"/>
              <a:cs typeface="Calibri Light"/>
            </a:endParaRPr>
          </a:p>
          <a:p>
            <a:pPr marL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E6E3A963-821E-11D4-4BF3-E86E9B8F4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73CFC624-2FEC-31BC-842B-914D4F154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6475FF-6015-28E6-6D28-BAC86DE5929D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15AC4F4-61B3-2C34-C5B5-78A239E3CC4B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Objectifs et attendus</a:t>
            </a:r>
            <a:endParaRPr lang="fr-FR" sz="3200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293FE50-9CC2-E023-CF26-75650F9ED626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4FFC5E7-8C71-277B-A6DB-B6B51568DE88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6" name="Image 1">
              <a:extLst>
                <a:ext uri="{FF2B5EF4-FFF2-40B4-BE49-F238E27FC236}">
                  <a16:creationId xmlns:a16="http://schemas.microsoft.com/office/drawing/2014/main" id="{3A4F25CC-4570-741B-0AA1-AF53A3508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7" name="Image 4">
              <a:extLst>
                <a:ext uri="{FF2B5EF4-FFF2-40B4-BE49-F238E27FC236}">
                  <a16:creationId xmlns:a16="http://schemas.microsoft.com/office/drawing/2014/main" id="{24C9A447-0EF1-86A9-75C3-1FA372D53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6F7DB1E-8AC0-6635-C671-4B4DA2D1A7FE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11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617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F24F-00C5-E72B-536E-CEB65CE1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9FFC9-6784-5799-F71C-012E1FC403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4071" y="1692472"/>
            <a:ext cx="9929680" cy="42647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Un </a:t>
            </a: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jeu de variables et </a:t>
            </a:r>
            <a:r>
              <a:rPr lang="en-US" sz="1800" b="1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d’indicateurs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, avec un </a:t>
            </a: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rapport </a:t>
            </a:r>
            <a:r>
              <a:rPr lang="en-US" sz="1800" b="1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méthodologique</a:t>
            </a:r>
            <a:endParaRPr lang="en-US" sz="1800" b="1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Une </a:t>
            </a: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base de données SIG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historisée</a:t>
            </a:r>
            <a:endParaRPr lang="en-US" sz="1800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Une </a:t>
            </a: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interface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destiné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aux </a:t>
            </a:r>
            <a:r>
              <a:rPr lang="en-US" sz="1800" b="1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gestionnaires</a:t>
            </a: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et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une</a:t>
            </a: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destinée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aux </a:t>
            </a:r>
            <a:r>
              <a:rPr lang="en-US" sz="1800" b="1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autres</a:t>
            </a: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parties </a:t>
            </a:r>
            <a:r>
              <a:rPr lang="en-US" sz="1800" b="1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prenantes</a:t>
            </a:r>
            <a:endParaRPr lang="en-US" sz="1800" b="1" dirty="0">
              <a:solidFill>
                <a:schemeClr val="tx1"/>
              </a:solidFill>
              <a:latin typeface="Century Gothic"/>
              <a:ea typeface="Calibri Light"/>
              <a:cs typeface="Calibri Light"/>
            </a:endParaRPr>
          </a:p>
          <a:p>
            <a:pPr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Des </a:t>
            </a: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fiches 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par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bassin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-versant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ou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ppe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récapitulant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l’ensemble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des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indicateurs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  <a:endParaRPr lang="en-US" sz="1800" dirty="0">
              <a:solidFill>
                <a:schemeClr val="tx1"/>
              </a:solidFill>
              <a:latin typeface="Century Gothic"/>
              <a:ea typeface="Calibri Light"/>
            </a:endParaRPr>
          </a:p>
          <a:p>
            <a:pPr algn="just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Des sessions de </a:t>
            </a:r>
            <a:r>
              <a:rPr lang="fr-FR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formation</a:t>
            </a:r>
            <a:endParaRPr lang="en-US" sz="1800" dirty="0">
              <a:solidFill>
                <a:schemeClr val="tx1"/>
              </a:solidFill>
              <a:latin typeface="Century Gothic"/>
              <a:ea typeface="Calibri Light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FE80A7BB-00E0-2D28-DB47-6C6FC22EC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78436487-A8F1-7AE4-E343-9EA8DC884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50F042-7F62-3970-384A-A0449E6C9DA0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0C6F5CD-3283-3669-777B-FF24F39F4201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Livrables</a:t>
            </a:r>
            <a:endParaRPr lang="fr-FR" sz="3200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8919805-3ED3-0256-CF35-34E140A0F9B2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1318584A-A963-4F1A-469B-DEED93030DAB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2" name="Image 1">
              <a:extLst>
                <a:ext uri="{FF2B5EF4-FFF2-40B4-BE49-F238E27FC236}">
                  <a16:creationId xmlns:a16="http://schemas.microsoft.com/office/drawing/2014/main" id="{61BD9D18-3B82-35E7-4890-550C29B03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3" name="Image 4">
              <a:extLst>
                <a:ext uri="{FF2B5EF4-FFF2-40B4-BE49-F238E27FC236}">
                  <a16:creationId xmlns:a16="http://schemas.microsoft.com/office/drawing/2014/main" id="{FBF3F648-620A-E194-A595-E5512648E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9B88BBD0-D514-F3FA-25CA-FB0B5A7DB03B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12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3255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796E-99B9-D91E-7E62-31A49B64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028D5-D8F1-07B5-90F2-D410BD7CEB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6682" y="1703526"/>
            <a:ext cx="10258958" cy="396968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000"/>
              </a:spcBef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Phase A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: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Cadrage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&amp; conception du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fonctionnel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(Mars –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Aout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2026)</a:t>
            </a:r>
          </a:p>
          <a:p>
            <a:pPr lvl="1" indent="0" algn="just">
              <a:lnSpc>
                <a:spcPct val="100000"/>
              </a:lnSpc>
              <a:spcBef>
                <a:spcPts val="2000"/>
              </a:spcBef>
              <a:buClr>
                <a:srgbClr val="F28230"/>
              </a:buClr>
              <a:buNone/>
            </a:pPr>
            <a:r>
              <a:rPr lang="en-US" sz="1800" i="1" dirty="0">
                <a:latin typeface="Century Gothic"/>
                <a:ea typeface="Calibri Light"/>
                <a:cs typeface="Calibri Light"/>
              </a:rPr>
              <a:t>Etude des </a:t>
            </a:r>
            <a:r>
              <a:rPr lang="en-US" sz="1800" i="1" dirty="0" err="1">
                <a:latin typeface="Century Gothic"/>
                <a:ea typeface="Calibri Light"/>
                <a:cs typeface="Calibri Light"/>
              </a:rPr>
              <a:t>besoins</a:t>
            </a:r>
            <a:r>
              <a:rPr lang="en-US" sz="1800" i="1" dirty="0">
                <a:latin typeface="Century Gothic"/>
                <a:ea typeface="Calibri Light"/>
                <a:cs typeface="Calibri Light"/>
              </a:rPr>
              <a:t> et pratiques métiers, identification des sources de données</a:t>
            </a:r>
          </a:p>
          <a:p>
            <a:pPr marL="1428750" lvl="2" indent="-285750" algn="just">
              <a:lnSpc>
                <a:spcPct val="100000"/>
              </a:lnSpc>
              <a:spcBef>
                <a:spcPts val="2000"/>
              </a:spcBef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en-US" sz="1800" dirty="0" err="1">
                <a:latin typeface="Century Gothic"/>
                <a:ea typeface="Calibri Light"/>
                <a:cs typeface="Calibri Light"/>
              </a:rPr>
              <a:t>Bilatérales</a:t>
            </a:r>
            <a:r>
              <a:rPr lang="en-US" sz="1800" dirty="0">
                <a:latin typeface="Century Gothic"/>
                <a:ea typeface="Calibri Light"/>
                <a:cs typeface="Calibri Light"/>
              </a:rPr>
              <a:t> : DAVAR SDE, DIMENC, DASS ; </a:t>
            </a:r>
            <a:r>
              <a:rPr lang="en-US" sz="1800" b="1" dirty="0">
                <a:latin typeface="Century Gothic"/>
                <a:ea typeface="Calibri Light"/>
                <a:cs typeface="Calibri Light"/>
              </a:rPr>
              <a:t>qui </a:t>
            </a:r>
            <a:r>
              <a:rPr lang="en-US" sz="1800" b="1" dirty="0" err="1">
                <a:latin typeface="Century Gothic"/>
                <a:ea typeface="Calibri Light"/>
                <a:cs typeface="Calibri Light"/>
              </a:rPr>
              <a:t>d’autre</a:t>
            </a:r>
            <a:r>
              <a:rPr lang="en-US" sz="1800" b="1" dirty="0">
                <a:latin typeface="Century Gothic"/>
                <a:ea typeface="Calibri Light"/>
                <a:cs typeface="Calibri Light"/>
              </a:rPr>
              <a:t> ?</a:t>
            </a:r>
          </a:p>
          <a:p>
            <a:pPr marL="1428750" lvl="2" indent="-285750" algn="just">
              <a:lnSpc>
                <a:spcPct val="100000"/>
              </a:lnSpc>
              <a:spcBef>
                <a:spcPts val="2000"/>
              </a:spcBef>
              <a:buClr>
                <a:srgbClr val="F2823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latin typeface="Century Gothic"/>
                <a:ea typeface="Calibri Light"/>
                <a:cs typeface="Calibri Light"/>
              </a:rPr>
              <a:t>1 </a:t>
            </a:r>
            <a:r>
              <a:rPr lang="en-US" sz="1800" dirty="0" err="1">
                <a:latin typeface="Century Gothic"/>
                <a:ea typeface="Calibri Light"/>
                <a:cs typeface="Calibri Light"/>
              </a:rPr>
              <a:t>ou</a:t>
            </a:r>
            <a:r>
              <a:rPr lang="en-US" sz="1800" dirty="0">
                <a:latin typeface="Century Gothic"/>
                <a:ea typeface="Calibri Light"/>
                <a:cs typeface="Calibri Light"/>
              </a:rPr>
              <a:t> 2 ateliers métiers (via OS1 ?)</a:t>
            </a:r>
          </a:p>
          <a:p>
            <a:pPr marL="971550" lvl="1" indent="-285750" algn="just">
              <a:lnSpc>
                <a:spcPct val="150000"/>
              </a:lnSpc>
              <a:spcBef>
                <a:spcPts val="2000"/>
              </a:spcBef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b="1" dirty="0">
                <a:latin typeface="Century Gothic"/>
                <a:ea typeface="Calibri Light"/>
                <a:cs typeface="Calibri Light"/>
              </a:rPr>
              <a:t>Cahier des charges, fiches </a:t>
            </a:r>
            <a:r>
              <a:rPr lang="en-US" sz="1800" b="1" dirty="0" err="1">
                <a:latin typeface="Century Gothic"/>
                <a:ea typeface="Calibri Light"/>
                <a:cs typeface="Calibri Light"/>
              </a:rPr>
              <a:t>indicateurs</a:t>
            </a:r>
            <a:r>
              <a:rPr lang="en-US" sz="1800" b="1" dirty="0">
                <a:latin typeface="Century Gothic"/>
                <a:ea typeface="Calibri Light"/>
                <a:cs typeface="Calibri Light"/>
              </a:rPr>
              <a:t> (Jalon PEP)</a:t>
            </a:r>
            <a:endParaRPr lang="en-US" sz="1800" dirty="0">
              <a:latin typeface="Century Gothic"/>
              <a:ea typeface="Calibri Light"/>
              <a:cs typeface="Calibri Light"/>
            </a:endParaRPr>
          </a:p>
          <a:p>
            <a:pPr marL="342900" indent="-342900" algn="just">
              <a:lnSpc>
                <a:spcPct val="150000"/>
              </a:lnSpc>
              <a:spcBef>
                <a:spcPts val="2000"/>
              </a:spcBef>
              <a:buClr>
                <a:srgbClr val="F28230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Phase B 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: Études techniques &amp;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réalisation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(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dès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Septembre</a:t>
            </a:r>
            <a:r>
              <a:rPr lang="en-US" sz="1800" dirty="0">
                <a:solidFill>
                  <a:schemeClr val="tx1"/>
                </a:solidFill>
                <a:latin typeface="Century Gothic"/>
                <a:ea typeface="Calibri Light"/>
                <a:cs typeface="Calibri Light"/>
              </a:rPr>
              <a:t> 2026)</a:t>
            </a:r>
          </a:p>
          <a:p>
            <a:pPr lvl="1" indent="0" algn="just">
              <a:lnSpc>
                <a:spcPct val="150000"/>
              </a:lnSpc>
              <a:spcBef>
                <a:spcPts val="2000"/>
              </a:spcBef>
              <a:buClr>
                <a:srgbClr val="F28230"/>
              </a:buClr>
              <a:buNone/>
            </a:pPr>
            <a:r>
              <a:rPr lang="en-US" sz="1800" i="1" dirty="0">
                <a:latin typeface="Century Gothic"/>
                <a:ea typeface="Calibri Light"/>
                <a:cs typeface="Calibri Light"/>
              </a:rPr>
              <a:t>Mise </a:t>
            </a:r>
            <a:r>
              <a:rPr lang="en-US" sz="1800" i="1" dirty="0" err="1">
                <a:latin typeface="Century Gothic"/>
                <a:ea typeface="Calibri Light"/>
                <a:cs typeface="Calibri Light"/>
              </a:rPr>
              <a:t>en</a:t>
            </a:r>
            <a:r>
              <a:rPr lang="en-US" sz="1800" i="1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i="1" dirty="0" err="1">
                <a:latin typeface="Century Gothic"/>
                <a:ea typeface="Calibri Light"/>
                <a:cs typeface="Calibri Light"/>
              </a:rPr>
              <a:t>œuvre</a:t>
            </a:r>
            <a:r>
              <a:rPr lang="en-US" sz="1800" i="1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i="1" dirty="0" err="1">
                <a:latin typeface="Century Gothic"/>
                <a:ea typeface="Calibri Light"/>
                <a:cs typeface="Calibri Light"/>
              </a:rPr>
              <a:t>opérationnelle</a:t>
            </a:r>
            <a:r>
              <a:rPr lang="en-US" sz="1800" i="1" dirty="0">
                <a:latin typeface="Century Gothic"/>
                <a:ea typeface="Calibri Light"/>
                <a:cs typeface="Calibri Light"/>
              </a:rPr>
              <a:t> et </a:t>
            </a:r>
            <a:r>
              <a:rPr lang="en-US" sz="1800" i="1" dirty="0" err="1">
                <a:latin typeface="Century Gothic"/>
                <a:ea typeface="Calibri Light"/>
                <a:cs typeface="Calibri Light"/>
              </a:rPr>
              <a:t>développement</a:t>
            </a:r>
            <a:r>
              <a:rPr lang="en-US" sz="1800" i="1" dirty="0">
                <a:latin typeface="Century Gothic"/>
                <a:ea typeface="Calibri Light"/>
                <a:cs typeface="Calibri Light"/>
              </a:rPr>
              <a:t> de la </a:t>
            </a:r>
            <a:r>
              <a:rPr lang="en-US" sz="1800" i="1" dirty="0" err="1">
                <a:latin typeface="Century Gothic"/>
                <a:ea typeface="Calibri Light"/>
                <a:cs typeface="Calibri Light"/>
              </a:rPr>
              <a:t>plateforme</a:t>
            </a:r>
            <a:endParaRPr lang="en-US" sz="1800" i="1" dirty="0">
              <a:latin typeface="Century Gothic"/>
              <a:ea typeface="Calibri Light"/>
              <a:cs typeface="Calibri Light"/>
            </a:endParaRPr>
          </a:p>
          <a:p>
            <a:pPr marL="971550" lvl="1" indent="-285750">
              <a:lnSpc>
                <a:spcPct val="100000"/>
              </a:lnSpc>
              <a:spcBef>
                <a:spcPct val="20000"/>
              </a:spcBef>
              <a:buFont typeface="Calibri" panose="020B0604020202020204" pitchFamily="34" charset="0"/>
              <a:buChar char="-"/>
            </a:pPr>
            <a:endParaRPr lang="fr-FR" dirty="0">
              <a:solidFill>
                <a:schemeClr val="tx1"/>
              </a:solidFill>
              <a:latin typeface="Century Gothic"/>
            </a:endParaRPr>
          </a:p>
          <a:p>
            <a:pPr marL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5929080-E9FF-72AB-28ED-D68FF49A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F9E88CA9-52FD-AA96-62DF-1BE5CA483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A89CF2-A549-B1F1-D34B-C81739A92563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36FF909-6723-E3C2-A047-63FFD6CC38BE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Organisation générale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225AD20-021D-4BE5-0338-5AF3127AAB2B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	PERIMETRE FONCTIONNEL		QUESTIONS &amp; ECHANGES	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A985C93D-D473-10E2-CA76-4DFA36FFDF6D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6" name="Image 1">
              <a:extLst>
                <a:ext uri="{FF2B5EF4-FFF2-40B4-BE49-F238E27FC236}">
                  <a16:creationId xmlns:a16="http://schemas.microsoft.com/office/drawing/2014/main" id="{C0BED6A2-B922-F1A9-26A8-FEC8F2F58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7" name="Image 4">
              <a:extLst>
                <a:ext uri="{FF2B5EF4-FFF2-40B4-BE49-F238E27FC236}">
                  <a16:creationId xmlns:a16="http://schemas.microsoft.com/office/drawing/2014/main" id="{030023C8-D193-DA1A-5F89-FB01460D0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4AC703A0-9EB8-AB1A-82D1-80D4B2FA3427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13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8718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0BB3BD-3260-25EE-B1BD-E199839A0CAA}"/>
              </a:ext>
            </a:extLst>
          </p:cNvPr>
          <p:cNvGrpSpPr/>
          <p:nvPr/>
        </p:nvGrpSpPr>
        <p:grpSpPr>
          <a:xfrm>
            <a:off x="1458470" y="1568606"/>
            <a:ext cx="5240775" cy="4947775"/>
            <a:chOff x="1075841" y="1719126"/>
            <a:chExt cx="4921632" cy="4327979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E0F95189-76ED-D552-242A-FEE1DEAB5FDF}"/>
                </a:ext>
              </a:extLst>
            </p:cNvPr>
            <p:cNvSpPr/>
            <p:nvPr/>
          </p:nvSpPr>
          <p:spPr>
            <a:xfrm>
              <a:off x="1075841" y="1719126"/>
              <a:ext cx="4867627" cy="43279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0D8"/>
              </a:solidFill>
              <a:round/>
            </a:ln>
            <a:effectLst>
              <a:outerShdw blurRad="101520" dist="37674" dir="8100000" algn="bl" rotWithShape="0">
                <a:srgbClr val="000000">
                  <a:alpha val="1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60000" rIns="120000" bIns="60000" anchor="t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2667" b="0" u="none" strike="noStrike">
                <a:solidFill>
                  <a:srgbClr val="000000"/>
                </a:solidFill>
                <a:effectLst/>
                <a:uFillTx/>
                <a:latin typeface="Century Gothic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86D8A4FC-E985-09E3-FC3C-77B70139BAD1}"/>
                </a:ext>
              </a:extLst>
            </p:cNvPr>
            <p:cNvSpPr/>
            <p:nvPr/>
          </p:nvSpPr>
          <p:spPr>
            <a:xfrm>
              <a:off x="1075841" y="1906140"/>
              <a:ext cx="4867627" cy="84960"/>
            </a:xfrm>
            <a:prstGeom prst="rect">
              <a:avLst/>
            </a:prstGeom>
            <a:solidFill>
              <a:srgbClr val="4A7C59"/>
            </a:solidFill>
            <a:ln w="12700">
              <a:solidFill>
                <a:srgbClr val="4A7C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25440" rIns="120000" bIns="25440" anchor="t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2400" b="0" u="none" strike="noStrike">
                <a:solidFill>
                  <a:srgbClr val="FFFFFF"/>
                </a:solidFill>
                <a:effectLst/>
                <a:uFillTx/>
                <a:latin typeface="Century Gothic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EB685F6F-71FA-B344-C5CC-966679A1B394}"/>
                </a:ext>
              </a:extLst>
            </p:cNvPr>
            <p:cNvSpPr/>
            <p:nvPr/>
          </p:nvSpPr>
          <p:spPr>
            <a:xfrm>
              <a:off x="1075841" y="1925051"/>
              <a:ext cx="4867628" cy="48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60000" rIns="120000" bIns="60000" anchor="ctr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tabLst>
                  <a:tab pos="0" algn="l"/>
                </a:tabLst>
              </a:pPr>
              <a:r>
                <a:rPr lang="en-US" sz="1700" b="1" spc="132" dirty="0">
                  <a:solidFill>
                    <a:srgbClr val="4A7C59"/>
                  </a:solidFill>
                  <a:latin typeface="Century Gothic"/>
                </a:rPr>
                <a:t>Interface experts</a:t>
              </a:r>
              <a:endParaRPr lang="fr-FR" sz="3200" dirty="0">
                <a:latin typeface="Century Gothic"/>
              </a:endParaRPr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7AD9DBC8-D9EB-EEA8-3ECE-6C118E06CA88}"/>
                </a:ext>
              </a:extLst>
            </p:cNvPr>
            <p:cNvSpPr/>
            <p:nvPr/>
          </p:nvSpPr>
          <p:spPr>
            <a:xfrm>
              <a:off x="1339432" y="2802356"/>
              <a:ext cx="4218524" cy="53494"/>
            </a:xfrm>
            <a:prstGeom prst="rect">
              <a:avLst/>
            </a:prstGeom>
            <a:solidFill>
              <a:srgbClr val="4A7C59">
                <a:alpha val="40000"/>
              </a:srgbClr>
            </a:solidFill>
            <a:ln w="12700">
              <a:solidFill>
                <a:srgbClr val="4A7C59">
                  <a:alpha val="4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-23520" rIns="120000" bIns="-23520" anchor="t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2400" b="0" u="none" strike="noStrike">
                <a:solidFill>
                  <a:srgbClr val="FFFFFF"/>
                </a:solidFill>
                <a:effectLst/>
                <a:uFillTx/>
                <a:latin typeface="Century Gothic"/>
              </a:endParaRP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178FC673-F2A7-1F28-0DF2-41319CF5C601}"/>
                </a:ext>
              </a:extLst>
            </p:cNvPr>
            <p:cNvSpPr/>
            <p:nvPr/>
          </p:nvSpPr>
          <p:spPr>
            <a:xfrm>
              <a:off x="1346795" y="3038997"/>
              <a:ext cx="4489672" cy="284646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60000" rIns="120000" bIns="60000" anchor="t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 err="1">
                  <a:latin typeface="Century Gothic"/>
                  <a:cs typeface="Arial"/>
                </a:rPr>
                <a:t>Accès</a:t>
              </a:r>
              <a:r>
                <a:rPr lang="en-US" sz="1600" dirty="0">
                  <a:latin typeface="Century Gothic"/>
                  <a:cs typeface="Arial"/>
                </a:rPr>
                <a:t> </a:t>
              </a:r>
              <a:r>
                <a:rPr lang="en-US" sz="1600" dirty="0" err="1">
                  <a:latin typeface="Century Gothic"/>
                  <a:cs typeface="Arial"/>
                </a:rPr>
                <a:t>restreint</a:t>
              </a:r>
              <a:r>
                <a:rPr lang="en-US" sz="1600" dirty="0">
                  <a:latin typeface="Century Gothic"/>
                  <a:cs typeface="Arial"/>
                </a:rPr>
                <a:t> et </a:t>
              </a:r>
              <a:r>
                <a:rPr lang="en-US" sz="1600" dirty="0" err="1">
                  <a:latin typeface="Century Gothic"/>
                  <a:cs typeface="Arial"/>
                </a:rPr>
                <a:t>système</a:t>
              </a:r>
              <a:r>
                <a:rPr lang="en-US" sz="1600" dirty="0">
                  <a:latin typeface="Century Gothic"/>
                  <a:cs typeface="Arial"/>
                </a:rPr>
                <a:t> de permissions et de partage.</a:t>
              </a:r>
              <a:endParaRPr lang="fr-FR" sz="1600" dirty="0"/>
            </a:p>
            <a:p>
              <a:endParaRPr lang="en-US" sz="1600" dirty="0">
                <a:latin typeface="Century Gothic"/>
                <a:cs typeface="Arial"/>
              </a:endParaRPr>
            </a:p>
            <a:p>
              <a:r>
                <a:rPr lang="en-US" sz="1600" dirty="0">
                  <a:latin typeface="Century Gothic"/>
                  <a:cs typeface="Arial"/>
                </a:rPr>
                <a:t>Navigation multi-</a:t>
              </a:r>
              <a:r>
                <a:rPr lang="en-US" sz="1600" dirty="0" err="1">
                  <a:latin typeface="Century Gothic"/>
                  <a:cs typeface="Arial"/>
                </a:rPr>
                <a:t>échelles</a:t>
              </a:r>
              <a:r>
                <a:rPr lang="en-US" sz="1600" dirty="0">
                  <a:latin typeface="Century Gothic"/>
                  <a:cs typeface="Arial"/>
                </a:rPr>
                <a:t> (BVAEP → PPE → </a:t>
              </a:r>
              <a:r>
                <a:rPr lang="en-US" sz="1600" dirty="0" err="1">
                  <a:latin typeface="Century Gothic"/>
                  <a:cs typeface="Arial"/>
                </a:rPr>
                <a:t>Captage</a:t>
              </a:r>
              <a:r>
                <a:rPr lang="en-US" sz="1600" dirty="0">
                  <a:latin typeface="Century Gothic"/>
                  <a:cs typeface="Arial"/>
                </a:rPr>
                <a:t>)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,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analyse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multicritère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personnalisée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,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analyse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 des changements, export de la base SIG et de rapports PDF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standardisés</a:t>
              </a:r>
              <a:endParaRPr lang="fr-FR" sz="1600" dirty="0">
                <a:solidFill>
                  <a:srgbClr val="2A2A2A"/>
                </a:solidFill>
                <a:latin typeface="Century Gothic"/>
                <a:ea typeface="Calibri"/>
                <a:cs typeface="Arial"/>
              </a:endParaRPr>
            </a:p>
            <a:p>
              <a:pPr defTabSz="1219170">
                <a:lnSpc>
                  <a:spcPct val="100000"/>
                </a:lnSpc>
              </a:pPr>
              <a:endParaRPr lang="en-US" sz="1867" b="0" u="none" strike="noStrike" dirty="0">
                <a:solidFill>
                  <a:srgbClr val="2A2A2A"/>
                </a:solidFill>
                <a:effectLst/>
                <a:uFillTx/>
                <a:latin typeface="Century Gothic"/>
                <a:ea typeface="Calibri"/>
                <a:cs typeface="Arial"/>
              </a:endParaRPr>
            </a:p>
          </p:txBody>
        </p:sp>
        <p:sp>
          <p:nvSpPr>
            <p:cNvPr id="20" name="ZoneTexte 1">
              <a:extLst>
                <a:ext uri="{FF2B5EF4-FFF2-40B4-BE49-F238E27FC236}">
                  <a16:creationId xmlns:a16="http://schemas.microsoft.com/office/drawing/2014/main" id="{E7524F74-C49B-3146-3AA2-A350CBE7E0DD}"/>
                </a:ext>
              </a:extLst>
            </p:cNvPr>
            <p:cNvSpPr txBox="1"/>
            <p:nvPr/>
          </p:nvSpPr>
          <p:spPr>
            <a:xfrm>
              <a:off x="1346796" y="2381206"/>
              <a:ext cx="4650677" cy="349989"/>
            </a:xfrm>
            <a:prstGeom prst="rect">
              <a:avLst/>
            </a:prstGeom>
            <a:noFill/>
          </p:spPr>
          <p:txBody>
            <a:bodyPr rot="0" spcFirstLastPara="0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800" dirty="0">
                  <a:solidFill>
                    <a:srgbClr val="8496B0"/>
                  </a:solidFill>
                  <a:latin typeface="Century Gothic"/>
                  <a:ea typeface="Calibri"/>
                  <a:cs typeface="Arial"/>
                </a:rPr>
                <a:t>OEIL, DAVAR, DIMENC, provinces...</a:t>
              </a:r>
              <a:endParaRPr lang="fr-FR" sz="1800" dirty="0">
                <a:solidFill>
                  <a:srgbClr val="8496B0"/>
                </a:solidFill>
                <a:latin typeface="Century Gothic"/>
                <a:cs typeface="Arial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1EA8400-066C-192B-BBCF-BA38C5B98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432" y="4660135"/>
              <a:ext cx="1980011" cy="132436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ADA296B-4153-BB20-A01A-53DC8EADC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64640" y="4668064"/>
              <a:ext cx="1980011" cy="1324363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C33652-5E7D-8A97-0C28-86FE7EFD8F39}"/>
              </a:ext>
            </a:extLst>
          </p:cNvPr>
          <p:cNvGrpSpPr/>
          <p:nvPr/>
        </p:nvGrpSpPr>
        <p:grpSpPr>
          <a:xfrm>
            <a:off x="6959063" y="1558861"/>
            <a:ext cx="4749171" cy="3834790"/>
            <a:chOff x="1534498" y="1755242"/>
            <a:chExt cx="4794754" cy="2340017"/>
          </a:xfrm>
        </p:grpSpPr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8A6BE8B1-DCC7-8546-A66C-5ADF753E031B}"/>
                </a:ext>
              </a:extLst>
            </p:cNvPr>
            <p:cNvSpPr/>
            <p:nvPr/>
          </p:nvSpPr>
          <p:spPr>
            <a:xfrm>
              <a:off x="1534498" y="1755242"/>
              <a:ext cx="4794754" cy="234001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0D8"/>
              </a:solidFill>
              <a:round/>
            </a:ln>
            <a:effectLst>
              <a:outerShdw blurRad="101520" dist="37674" dir="8100000" algn="bl" rotWithShape="0">
                <a:srgbClr val="000000">
                  <a:alpha val="1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60000" rIns="120000" bIns="60000" anchor="t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2667" b="0" u="none" strike="noStrike">
                <a:solidFill>
                  <a:srgbClr val="000000"/>
                </a:solidFill>
                <a:effectLst/>
                <a:uFillTx/>
                <a:latin typeface="Century Gothic"/>
              </a:endParaRPr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83B791A2-F585-A5CC-6E30-BEC9DEB3F6D8}"/>
                </a:ext>
              </a:extLst>
            </p:cNvPr>
            <p:cNvSpPr/>
            <p:nvPr/>
          </p:nvSpPr>
          <p:spPr>
            <a:xfrm>
              <a:off x="1647526" y="1918386"/>
              <a:ext cx="4603860" cy="34694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60000" rIns="120000" bIns="60000" anchor="ctr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tabLst>
                  <a:tab pos="0" algn="l"/>
                </a:tabLst>
              </a:pPr>
              <a:r>
                <a:rPr lang="en-US" sz="1700" b="1" spc="132" dirty="0">
                  <a:solidFill>
                    <a:srgbClr val="C8963E"/>
                  </a:solidFill>
                  <a:latin typeface="Century Gothic"/>
                </a:rPr>
                <a:t>Modules public “</a:t>
              </a:r>
              <a:r>
                <a:rPr lang="en-US" sz="1700" b="1" spc="132" dirty="0" err="1">
                  <a:solidFill>
                    <a:srgbClr val="C8963E"/>
                  </a:solidFill>
                  <a:latin typeface="Century Gothic"/>
                </a:rPr>
                <a:t>averti</a:t>
              </a:r>
              <a:r>
                <a:rPr lang="en-US" sz="1700" b="1" spc="132" dirty="0">
                  <a:solidFill>
                    <a:srgbClr val="C8963E"/>
                  </a:solidFill>
                  <a:latin typeface="Century Gothic"/>
                </a:rPr>
                <a:t>”</a:t>
              </a:r>
              <a:endParaRPr lang="en-US" sz="1700" b="1" u="none" strike="noStrike" spc="132" dirty="0">
                <a:solidFill>
                  <a:srgbClr val="C8963E"/>
                </a:solidFill>
                <a:effectLst/>
                <a:uFillTx/>
                <a:latin typeface="Century Gothic"/>
              </a:endParaRPr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A428D910-BB59-2D0A-D010-F56CF1CD80FD}"/>
                </a:ext>
              </a:extLst>
            </p:cNvPr>
            <p:cNvSpPr/>
            <p:nvPr/>
          </p:nvSpPr>
          <p:spPr>
            <a:xfrm>
              <a:off x="1777471" y="2517559"/>
              <a:ext cx="4308806" cy="35883"/>
            </a:xfrm>
            <a:prstGeom prst="rect">
              <a:avLst/>
            </a:prstGeom>
            <a:solidFill>
              <a:srgbClr val="C8963E">
                <a:alpha val="40000"/>
              </a:srgbClr>
            </a:solidFill>
            <a:ln w="12700">
              <a:solidFill>
                <a:srgbClr val="C8963E">
                  <a:alpha val="4000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-23520" rIns="120000" bIns="-23520" anchor="t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2400" b="0" u="none" strike="noStrike">
                <a:solidFill>
                  <a:srgbClr val="FFFFFF"/>
                </a:solidFill>
                <a:effectLst/>
                <a:uFillTx/>
                <a:latin typeface="Century Gothic"/>
              </a:endParaRPr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81DEEBF8-A494-8D42-EED0-12A942C32AD9}"/>
                </a:ext>
              </a:extLst>
            </p:cNvPr>
            <p:cNvSpPr/>
            <p:nvPr/>
          </p:nvSpPr>
          <p:spPr>
            <a:xfrm>
              <a:off x="1753888" y="2681921"/>
              <a:ext cx="3117544" cy="131368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0000" tIns="60000" rIns="120000" bIns="60000" anchor="t">
              <a:no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Accès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 public.</a:t>
              </a:r>
              <a:b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</a:br>
              <a:endParaRPr lang="en-US" sz="1600" dirty="0">
                <a:solidFill>
                  <a:srgbClr val="2A2A2A"/>
                </a:solidFill>
                <a:latin typeface="Century Gothic"/>
                <a:ea typeface="Calibri"/>
                <a:cs typeface="Arial"/>
              </a:endParaRPr>
            </a:p>
            <a:p>
              <a:r>
                <a:rPr lang="fr-FR" sz="1600" u="sng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Tableau de bord basique</a:t>
              </a:r>
              <a:r>
                <a:rPr lang="fr-FR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, export fiches PDF simplifiées,</a:t>
              </a:r>
              <a:endParaRPr lang="en-US" sz="1600" dirty="0">
                <a:solidFill>
                  <a:srgbClr val="2A2A2A"/>
                </a:solidFill>
                <a:latin typeface="Century Gothic"/>
                <a:ea typeface="Calibri"/>
                <a:cs typeface="Arial"/>
              </a:endParaRPr>
            </a:p>
            <a:p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abonnement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alertes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 / news-letter,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ponts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projets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existants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 (SOURCE, 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Georisque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…), [</a:t>
              </a:r>
              <a:r>
                <a:rPr lang="en-US" sz="1600" dirty="0" err="1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signalements</a:t>
              </a:r>
              <a:r>
                <a:rPr lang="en-US" sz="1600" dirty="0">
                  <a:solidFill>
                    <a:srgbClr val="2A2A2A"/>
                  </a:solidFill>
                  <a:latin typeface="Century Gothic"/>
                  <a:ea typeface="Calibri"/>
                  <a:cs typeface="Arial"/>
                </a:rPr>
                <a:t>]</a:t>
              </a:r>
            </a:p>
            <a:p>
              <a:endParaRPr lang="en-US" sz="1600" dirty="0">
                <a:solidFill>
                  <a:srgbClr val="2A2A2A"/>
                </a:solidFill>
                <a:latin typeface="Century Gothic"/>
                <a:ea typeface="Calibri"/>
                <a:cs typeface="Arial"/>
              </a:endParaRPr>
            </a:p>
            <a:p>
              <a:endParaRPr lang="en-US" sz="1600" dirty="0">
                <a:solidFill>
                  <a:srgbClr val="2A2A2A"/>
                </a:solidFill>
                <a:latin typeface="Century Gothic"/>
                <a:ea typeface="Calibri"/>
                <a:cs typeface="Arial"/>
              </a:endParaRPr>
            </a:p>
            <a:p>
              <a:endParaRPr lang="en-US" sz="1600" dirty="0">
                <a:solidFill>
                  <a:srgbClr val="2A2A2A"/>
                </a:solidFill>
                <a:latin typeface="Century Gothic"/>
                <a:ea typeface="Calibri"/>
                <a:cs typeface="Arial"/>
              </a:endParaRPr>
            </a:p>
            <a:p>
              <a:endParaRPr lang="en-US" sz="1600" dirty="0">
                <a:solidFill>
                  <a:srgbClr val="2A2A2A"/>
                </a:solidFill>
                <a:latin typeface="Century Gothic"/>
                <a:ea typeface="Calibri"/>
                <a:cs typeface="Arial"/>
              </a:endParaRPr>
            </a:p>
            <a:p>
              <a:br>
                <a:rPr lang="en-US" sz="1600" dirty="0">
                  <a:latin typeface="Century Gothic"/>
                  <a:cs typeface="Arial"/>
                </a:rPr>
              </a:br>
              <a:endParaRPr lang="en-US" sz="1600" dirty="0">
                <a:latin typeface="Century Gothic"/>
                <a:cs typeface="Arial"/>
              </a:endParaRPr>
            </a:p>
            <a:p>
              <a:pPr defTabSz="1219170">
                <a:lnSpc>
                  <a:spcPct val="100000"/>
                </a:lnSpc>
              </a:pPr>
              <a:endParaRPr lang="en-US" sz="1600" b="0" u="none" strike="noStrike" dirty="0">
                <a:solidFill>
                  <a:srgbClr val="2A2A2A"/>
                </a:solidFill>
                <a:effectLst/>
                <a:uFillTx/>
                <a:latin typeface="Century Gothic"/>
                <a:ea typeface="Calibri"/>
                <a:cs typeface="Arial"/>
              </a:endParaRPr>
            </a:p>
          </p:txBody>
        </p:sp>
        <p:sp>
          <p:nvSpPr>
            <p:cNvPr id="22" name="ZoneTexte 3">
              <a:extLst>
                <a:ext uri="{FF2B5EF4-FFF2-40B4-BE49-F238E27FC236}">
                  <a16:creationId xmlns:a16="http://schemas.microsoft.com/office/drawing/2014/main" id="{9F655226-71D1-02CD-7035-AB45C9D627A1}"/>
                </a:ext>
              </a:extLst>
            </p:cNvPr>
            <p:cNvSpPr txBox="1"/>
            <p:nvPr/>
          </p:nvSpPr>
          <p:spPr>
            <a:xfrm>
              <a:off x="1793612" y="2244708"/>
              <a:ext cx="4261087" cy="346944"/>
            </a:xfrm>
            <a:prstGeom prst="rect">
              <a:avLst/>
            </a:prstGeom>
            <a:noFill/>
          </p:spPr>
          <p:txBody>
            <a:bodyPr rot="0" spcFirstLastPara="0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800" dirty="0">
                  <a:solidFill>
                    <a:srgbClr val="8496B0"/>
                  </a:solidFill>
                  <a:latin typeface="Century Gothic"/>
                  <a:ea typeface="Calibri"/>
                  <a:cs typeface="Arial"/>
                </a:rPr>
                <a:t>Médias, mairies, associations…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7444218-2229-E584-58C4-B053DEE04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80367" y="2759912"/>
              <a:ext cx="1023082" cy="922448"/>
            </a:xfrm>
            <a:prstGeom prst="rect">
              <a:avLst/>
            </a:prstGeom>
          </p:spPr>
        </p:pic>
      </p:grpSp>
      <p:pic>
        <p:nvPicPr>
          <p:cNvPr id="2" name="Picture 6">
            <a:extLst>
              <a:ext uri="{FF2B5EF4-FFF2-40B4-BE49-F238E27FC236}">
                <a16:creationId xmlns:a16="http://schemas.microsoft.com/office/drawing/2014/main" id="{9B10EB1C-54BA-9402-BAFF-18935CA3E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D902084A-BC58-9B97-0D6E-BA6D3A1D8F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EF9107B-7914-D7D3-ED22-5C306206A951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6503601-9AC4-08E5-AAAB-4A1F6BA7E5FF}"/>
              </a:ext>
            </a:extLst>
          </p:cNvPr>
          <p:cNvSpPr txBox="1">
            <a:spLocks/>
          </p:cNvSpPr>
          <p:nvPr/>
        </p:nvSpPr>
        <p:spPr>
          <a:xfrm>
            <a:off x="1424872" y="527271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Interfaces</a:t>
            </a:r>
            <a:endParaRPr lang="en-US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603A66A-70CF-58F2-D04B-BE15907C6F6D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			</a:t>
            </a:r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PERIMETRE FONCTIONNEL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QUESTIONS &amp; ECHANGES	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AE805852-160D-A807-D34D-AEFEDAA07E23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31" name="Image 1">
              <a:extLst>
                <a:ext uri="{FF2B5EF4-FFF2-40B4-BE49-F238E27FC236}">
                  <a16:creationId xmlns:a16="http://schemas.microsoft.com/office/drawing/2014/main" id="{126E0110-B8A5-75BC-FE85-0309F3A72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35" name="Image 4">
              <a:extLst>
                <a:ext uri="{FF2B5EF4-FFF2-40B4-BE49-F238E27FC236}">
                  <a16:creationId xmlns:a16="http://schemas.microsoft.com/office/drawing/2014/main" id="{7B822DE5-46BC-4E47-F18B-49C891D96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36" name="Espace réservé du numéro de diapositive 5">
            <a:extLst>
              <a:ext uri="{FF2B5EF4-FFF2-40B4-BE49-F238E27FC236}">
                <a16:creationId xmlns:a16="http://schemas.microsoft.com/office/drawing/2014/main" id="{E858C508-7403-D356-6A52-26DCD26E7BE8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14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EE21FCBB-8F7A-8F9F-F24E-5EEC8E7BE318}"/>
              </a:ext>
            </a:extLst>
          </p:cNvPr>
          <p:cNvSpPr/>
          <p:nvPr/>
        </p:nvSpPr>
        <p:spPr>
          <a:xfrm>
            <a:off x="6959063" y="1804021"/>
            <a:ext cx="4749171" cy="97127"/>
          </a:xfrm>
          <a:prstGeom prst="rect">
            <a:avLst/>
          </a:prstGeom>
          <a:solidFill>
            <a:srgbClr val="CB9B48"/>
          </a:solidFill>
          <a:ln w="12700">
            <a:solidFill>
              <a:srgbClr val="CB9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25440" rIns="120000" bIns="25440" anchor="t">
            <a:no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 b="0" u="none" strike="noStrike" dirty="0">
              <a:solidFill>
                <a:srgbClr val="FFFFFF"/>
              </a:solidFill>
              <a:effectLst/>
              <a:highlight>
                <a:srgbClr val="EDB832"/>
              </a:highlight>
              <a:uFillTx/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304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636E0-B42D-62BA-0141-AC9B1D1A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82E3C352-9078-9607-AA24-5CCF91886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7CEFEDFD-1D28-080E-0CED-9D0EBB63C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8E7D69E-857D-DE3A-2368-E9A677E07917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9D639A94-A347-5FEE-1EB9-17F0C7EF2FFA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Données &amp; indicateurs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883F36-E814-A88B-7CC5-7762ECDA23C7}"/>
              </a:ext>
            </a:extLst>
          </p:cNvPr>
          <p:cNvSpPr txBox="1">
            <a:spLocks/>
          </p:cNvSpPr>
          <p:nvPr/>
        </p:nvSpPr>
        <p:spPr>
          <a:xfrm>
            <a:off x="1574071" y="1698509"/>
            <a:ext cx="10258958" cy="44825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1500"/>
              </a:spcBef>
              <a:buClr>
                <a:srgbClr val="F28230"/>
              </a:buClr>
              <a:buFont typeface="Century Gothic,Sans-Serif" panose="020B0502020202020204" pitchFamily="34" charset="0"/>
              <a:buChar char="►"/>
            </a:pPr>
            <a:r>
              <a:rPr lang="fr-FR" sz="1800" b="1" dirty="0">
                <a:latin typeface="Century Gothic"/>
              </a:rPr>
              <a:t> 37 sources</a:t>
            </a:r>
            <a:r>
              <a:rPr lang="fr-FR" sz="1800" dirty="0">
                <a:latin typeface="Century Gothic"/>
              </a:rPr>
              <a:t> de données, incertitude quant à la disponibilité d'une dizaine d'entre elles </a:t>
            </a:r>
            <a:endParaRPr lang="en-US" sz="1800" dirty="0">
              <a:latin typeface="Century Gothic"/>
            </a:endParaRPr>
          </a:p>
          <a:p>
            <a:pPr algn="just">
              <a:lnSpc>
                <a:spcPct val="10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fr-FR" sz="1800" b="1" dirty="0">
                <a:latin typeface="Century Gothic"/>
              </a:rPr>
              <a:t> Sollicitation des acteurs</a:t>
            </a:r>
            <a:r>
              <a:rPr lang="fr-FR" sz="1800" dirty="0">
                <a:latin typeface="Century Gothic"/>
              </a:rPr>
              <a:t> en cours pour le partage des données et le support technique</a:t>
            </a:r>
          </a:p>
          <a:p>
            <a:pPr lvl="1" algn="just">
              <a:lnSpc>
                <a:spcPct val="150000"/>
              </a:lnSpc>
              <a:spcBef>
                <a:spcPts val="1000"/>
              </a:spcBef>
              <a:buClr>
                <a:srgbClr val="F28230"/>
              </a:buClr>
              <a:buFont typeface="Arial" panose="020B0502020202020204" pitchFamily="34" charset="0"/>
              <a:buChar char="•"/>
            </a:pPr>
            <a:r>
              <a:rPr lang="fr-FR" sz="1800" dirty="0">
                <a:latin typeface="Century Gothic"/>
              </a:rPr>
              <a:t>DAVAR : </a:t>
            </a:r>
          </a:p>
          <a:p>
            <a:pPr lvl="2" algn="just">
              <a:lnSpc>
                <a:spcPct val="150000"/>
              </a:lnSpc>
              <a:spcBef>
                <a:spcPts val="1000"/>
              </a:spcBef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Hydrométrie limnimètres  (</a:t>
            </a:r>
            <a:r>
              <a:rPr lang="fr-FR" sz="1600" dirty="0" err="1">
                <a:latin typeface="Century Gothic"/>
              </a:rPr>
              <a:t>Georep</a:t>
            </a:r>
            <a:r>
              <a:rPr lang="fr-FR" sz="1600" dirty="0">
                <a:latin typeface="Century Gothic"/>
              </a:rPr>
              <a:t>)</a:t>
            </a:r>
          </a:p>
          <a:p>
            <a:pPr lvl="2" algn="just">
              <a:lnSpc>
                <a:spcPct val="150000"/>
              </a:lnSpc>
              <a:spcBef>
                <a:spcPts val="1000"/>
              </a:spcBef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AODPE (</a:t>
            </a:r>
            <a:r>
              <a:rPr lang="fr-FR" sz="1600" dirty="0" err="1">
                <a:latin typeface="Century Gothic"/>
              </a:rPr>
              <a:t>Georep</a:t>
            </a:r>
            <a:r>
              <a:rPr lang="fr-FR" sz="1600" dirty="0">
                <a:latin typeface="Century Gothic"/>
              </a:rPr>
              <a:t>)</a:t>
            </a:r>
          </a:p>
          <a:p>
            <a:pPr lvl="2" algn="just">
              <a:lnSpc>
                <a:spcPct val="150000"/>
              </a:lnSpc>
              <a:spcBef>
                <a:spcPts val="1000"/>
              </a:spcBef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PPE (</a:t>
            </a:r>
            <a:r>
              <a:rPr lang="fr-FR" sz="1600" dirty="0" err="1">
                <a:latin typeface="Century Gothic"/>
              </a:rPr>
              <a:t>Georep</a:t>
            </a:r>
            <a:r>
              <a:rPr lang="fr-FR" sz="1600" dirty="0">
                <a:latin typeface="Century Gothic"/>
              </a:rPr>
              <a:t>)</a:t>
            </a:r>
          </a:p>
          <a:p>
            <a:pPr lvl="2" algn="just">
              <a:lnSpc>
                <a:spcPct val="150000"/>
              </a:lnSpc>
              <a:spcBef>
                <a:spcPts val="1000"/>
              </a:spcBef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Captages (</a:t>
            </a:r>
            <a:r>
              <a:rPr lang="fr-FR" sz="1600" dirty="0" err="1">
                <a:latin typeface="Century Gothic"/>
              </a:rPr>
              <a:t>Georep</a:t>
            </a:r>
            <a:r>
              <a:rPr lang="fr-FR" sz="1600" dirty="0">
                <a:latin typeface="Century Gothic"/>
              </a:rPr>
              <a:t>)</a:t>
            </a:r>
          </a:p>
          <a:p>
            <a:pPr lvl="2" algn="just">
              <a:lnSpc>
                <a:spcPct val="150000"/>
              </a:lnSpc>
              <a:spcBef>
                <a:spcPts val="1000"/>
              </a:spcBef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Franchissements Réseau hydrographique</a:t>
            </a:r>
          </a:p>
          <a:p>
            <a:pPr lvl="2" algn="just">
              <a:lnSpc>
                <a:spcPct val="150000"/>
              </a:lnSpc>
              <a:spcBef>
                <a:spcPts val="1000"/>
              </a:spcBef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Bilan Besoin Ressource</a:t>
            </a:r>
          </a:p>
          <a:p>
            <a:pPr lvl="2" algn="just">
              <a:lnSpc>
                <a:spcPct val="150000"/>
              </a:lnSpc>
              <a:spcBef>
                <a:spcPts val="1000"/>
              </a:spcBef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BDSSNC</a:t>
            </a:r>
          </a:p>
          <a:p>
            <a:pPr lvl="2" algn="just">
              <a:lnSpc>
                <a:spcPct val="150000"/>
              </a:lnSpc>
              <a:spcBef>
                <a:spcPts val="1000"/>
              </a:spcBef>
              <a:buClr>
                <a:srgbClr val="F28230"/>
              </a:buClr>
              <a:buFont typeface="Arial" panose="020B0502020202020204" pitchFamily="34" charset="0"/>
              <a:buChar char="•"/>
            </a:pPr>
            <a:endParaRPr lang="fr-FR" sz="1200" dirty="0">
              <a:latin typeface="Century Gothic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6599B3-482A-A001-C1E8-44CE036CC80B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			</a:t>
            </a:r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PERIMETRE FONCTIONNEL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QUESTIONS &amp; ECHANGES	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9FFB9AB9-7E05-CFCA-91EF-CED5CCE0016E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1" name="Image 1">
              <a:extLst>
                <a:ext uri="{FF2B5EF4-FFF2-40B4-BE49-F238E27FC236}">
                  <a16:creationId xmlns:a16="http://schemas.microsoft.com/office/drawing/2014/main" id="{DBA72F05-388E-AAF9-3DE9-5AE984371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2" name="Image 4">
              <a:extLst>
                <a:ext uri="{FF2B5EF4-FFF2-40B4-BE49-F238E27FC236}">
                  <a16:creationId xmlns:a16="http://schemas.microsoft.com/office/drawing/2014/main" id="{A498FEC4-37AF-A975-0F0A-4D1E7FE8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5B7E75BD-1D44-68A2-CE53-2232D29CCE65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15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5550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3E6C4-838E-4AB8-FF57-064678EF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2B3B64B-5D44-37EB-EC18-04F212A7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E4D7D726-790D-0402-E76C-5B6CC2945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B27513A-0370-C6E6-448D-48F951393A97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3BEED61-C3AD-14C5-7762-A840A2F0652F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Données &amp; indicateurs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FBE122-7F59-817D-D894-3E1B71316D61}"/>
              </a:ext>
            </a:extLst>
          </p:cNvPr>
          <p:cNvSpPr txBox="1">
            <a:spLocks/>
          </p:cNvSpPr>
          <p:nvPr/>
        </p:nvSpPr>
        <p:spPr>
          <a:xfrm>
            <a:off x="1574071" y="1698509"/>
            <a:ext cx="10258958" cy="44825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50000"/>
              </a:lnSpc>
              <a:spcBef>
                <a:spcPts val="1000"/>
              </a:spcBef>
              <a:buClr>
                <a:srgbClr val="F28230"/>
              </a:buClr>
              <a:buFont typeface="Arial" panose="020B0502020202020204" pitchFamily="34" charset="0"/>
              <a:buChar char="•"/>
            </a:pPr>
            <a:r>
              <a:rPr lang="fr-FR" sz="1800" dirty="0">
                <a:latin typeface="Century Gothic"/>
              </a:rPr>
              <a:t>DASS : </a:t>
            </a:r>
          </a:p>
          <a:p>
            <a:pPr lvl="2" algn="just">
              <a:lnSpc>
                <a:spcPct val="150000"/>
              </a:lnSpc>
              <a:buClr>
                <a:srgbClr val="FF0000"/>
              </a:buClr>
              <a:buFont typeface="Century Gothic" panose="020B0502020202020204" pitchFamily="34" charset="0"/>
              <a:buChar char="?"/>
            </a:pPr>
            <a:r>
              <a:rPr lang="fr-FR" sz="1600" dirty="0">
                <a:latin typeface="Century Gothic"/>
              </a:rPr>
              <a:t>Unités de distribution</a:t>
            </a:r>
          </a:p>
          <a:p>
            <a:pPr lvl="2" algn="just">
              <a:lnSpc>
                <a:spcPct val="150000"/>
              </a:lnSpc>
              <a:buClr>
                <a:srgbClr val="FF0000"/>
              </a:buClr>
              <a:buFont typeface="Century Gothic" panose="020B0502020202020204" pitchFamily="34" charset="0"/>
              <a:buChar char="Χ"/>
            </a:pPr>
            <a:r>
              <a:rPr lang="fr-FR" sz="1600" dirty="0">
                <a:latin typeface="Century Gothic"/>
              </a:rPr>
              <a:t>Qualité de l’eau</a:t>
            </a:r>
          </a:p>
          <a:p>
            <a:pPr lvl="1" algn="just">
              <a:lnSpc>
                <a:spcPct val="150000"/>
              </a:lnSpc>
              <a:spcBef>
                <a:spcPts val="1000"/>
              </a:spcBef>
              <a:buClr>
                <a:srgbClr val="F28230"/>
              </a:buClr>
              <a:buFont typeface="Arial" panose="020B0502020202020204" pitchFamily="34" charset="0"/>
              <a:buChar char="•"/>
            </a:pPr>
            <a:r>
              <a:rPr lang="fr-FR" sz="1800" dirty="0">
                <a:latin typeface="Century Gothic"/>
              </a:rPr>
              <a:t>DIMENC :</a:t>
            </a:r>
          </a:p>
          <a:p>
            <a:pPr lvl="2" algn="just">
              <a:lnSpc>
                <a:spcPct val="150000"/>
              </a:lnSpc>
              <a:buClr>
                <a:srgbClr val="FF0000"/>
              </a:buClr>
              <a:buFont typeface="Century Gothic" panose="020B0502020202020204" pitchFamily="34" charset="0"/>
              <a:buChar char="Χ"/>
            </a:pPr>
            <a:r>
              <a:rPr lang="fr-FR" sz="1600" dirty="0">
                <a:latin typeface="Century Gothic"/>
              </a:rPr>
              <a:t>ICPE : niveau de complémentarité avec les données des provinces ?</a:t>
            </a:r>
          </a:p>
          <a:p>
            <a:pPr lvl="2" algn="just">
              <a:lnSpc>
                <a:spcPct val="150000"/>
              </a:lnSpc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Inventaire glissement de terrain</a:t>
            </a:r>
          </a:p>
          <a:p>
            <a:pPr lvl="2" algn="just">
              <a:lnSpc>
                <a:spcPct val="150000"/>
              </a:lnSpc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Aléa glissement de terrain : 15 communes actuellement modélisées, quid des autres ?</a:t>
            </a:r>
          </a:p>
          <a:p>
            <a:pPr lvl="2" algn="just">
              <a:lnSpc>
                <a:spcPct val="150000"/>
              </a:lnSpc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Géologie (200k/50k)</a:t>
            </a:r>
          </a:p>
          <a:p>
            <a:pPr lvl="2" algn="just">
              <a:lnSpc>
                <a:spcPct val="150000"/>
              </a:lnSpc>
              <a:buClr>
                <a:srgbClr val="40A35E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latin typeface="Century Gothic"/>
              </a:rPr>
              <a:t>Carte de vulnérabilité intrinsèque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CF6DD71-B5A3-B19B-9A24-704FFEFD19EF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			</a:t>
            </a:r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PERIMETRE FONCTIONNEL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QUESTIONS &amp; ECHANGES	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0D3AF2D3-510B-A833-D16A-7D62DC1D0B85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1" name="Image 1">
              <a:extLst>
                <a:ext uri="{FF2B5EF4-FFF2-40B4-BE49-F238E27FC236}">
                  <a16:creationId xmlns:a16="http://schemas.microsoft.com/office/drawing/2014/main" id="{AD3A8EAA-8C37-53BB-2ED2-C85BD7FE2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2" name="Image 4">
              <a:extLst>
                <a:ext uri="{FF2B5EF4-FFF2-40B4-BE49-F238E27FC236}">
                  <a16:creationId xmlns:a16="http://schemas.microsoft.com/office/drawing/2014/main" id="{03A26D6C-3EA7-5EAE-860B-5D9C8E12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0D5E806C-DD22-FCB7-386C-9C91244BA477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16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6685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D95C-9FB7-EC48-8C8C-847C26CA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5A401F8B-46AF-8842-B94B-EAD79871D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7FBC7B1A-0D27-2712-3264-C712FCE21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A9036EF-F895-6286-EB63-39F153D65ED7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532DF72-C0B4-FBBC-4691-A9CB758F9788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Données &amp; indicateurs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44AF9B-B68B-DD57-A84F-E0CFC5DEFFDD}"/>
              </a:ext>
            </a:extLst>
          </p:cNvPr>
          <p:cNvSpPr txBox="1">
            <a:spLocks/>
          </p:cNvSpPr>
          <p:nvPr/>
        </p:nvSpPr>
        <p:spPr>
          <a:xfrm>
            <a:off x="1574071" y="1698509"/>
            <a:ext cx="10258958" cy="44825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2000"/>
              </a:spcBef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b="1" dirty="0">
                <a:latin typeface="Century Gothic"/>
                <a:ea typeface="Calibri Light"/>
                <a:cs typeface="Calibri Light"/>
              </a:rPr>
              <a:t>38 </a:t>
            </a:r>
            <a:r>
              <a:rPr lang="en-US" sz="1800" b="1" dirty="0" err="1">
                <a:latin typeface="Century Gothic"/>
                <a:ea typeface="Calibri Light"/>
                <a:cs typeface="Calibri Light"/>
              </a:rPr>
              <a:t>indicateurs</a:t>
            </a:r>
            <a:r>
              <a:rPr lang="en-US" sz="1800" b="1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latin typeface="Century Gothic"/>
                <a:ea typeface="Calibri Light"/>
                <a:cs typeface="Calibri Light"/>
              </a:rPr>
              <a:t>identifiés</a:t>
            </a:r>
            <a:r>
              <a:rPr lang="en-US" sz="1800" dirty="0">
                <a:latin typeface="Century Gothic"/>
                <a:ea typeface="Calibri Light"/>
                <a:cs typeface="Calibri Light"/>
              </a:rPr>
              <a:t> (fiche </a:t>
            </a:r>
            <a:r>
              <a:rPr lang="en-US" sz="1800" dirty="0" err="1">
                <a:latin typeface="Century Gothic"/>
                <a:ea typeface="Calibri Light"/>
                <a:cs typeface="Calibri Light"/>
              </a:rPr>
              <a:t>indicateurs</a:t>
            </a:r>
            <a:r>
              <a:rPr lang="en-US" sz="1800" dirty="0">
                <a:latin typeface="Century Gothic"/>
                <a:ea typeface="Calibri Light"/>
                <a:cs typeface="Calibri Light"/>
              </a:rPr>
              <a:t>), </a:t>
            </a:r>
            <a:r>
              <a:rPr lang="en-US" sz="1800" dirty="0" err="1">
                <a:latin typeface="Century Gothic"/>
                <a:ea typeface="Calibri Light"/>
                <a:cs typeface="Calibri Light"/>
              </a:rPr>
              <a:t>regroupés</a:t>
            </a:r>
            <a:r>
              <a:rPr lang="en-US" sz="1800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latin typeface="Century Gothic"/>
                <a:ea typeface="Calibri Light"/>
                <a:cs typeface="Calibri Light"/>
              </a:rPr>
              <a:t>en</a:t>
            </a:r>
            <a:r>
              <a:rPr lang="en-US" sz="1800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 err="1">
                <a:latin typeface="Century Gothic"/>
                <a:ea typeface="Calibri Light"/>
                <a:cs typeface="Calibri Light"/>
              </a:rPr>
              <a:t>grandes</a:t>
            </a:r>
            <a:r>
              <a:rPr lang="en-US" sz="1800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b="1" dirty="0" err="1">
                <a:latin typeface="Century Gothic"/>
                <a:ea typeface="Calibri Light"/>
                <a:cs typeface="Calibri Light"/>
              </a:rPr>
              <a:t>familles</a:t>
            </a:r>
            <a:r>
              <a:rPr lang="en-US" sz="1800" b="1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800" dirty="0">
                <a:latin typeface="Century Gothic"/>
                <a:ea typeface="Calibri Light"/>
                <a:cs typeface="Calibri Light"/>
              </a:rPr>
              <a:t>:</a:t>
            </a:r>
            <a:endParaRPr lang="en-US" dirty="0"/>
          </a:p>
          <a:p>
            <a:pPr lvl="1" algn="just">
              <a:lnSpc>
                <a:spcPct val="100000"/>
              </a:lnSpc>
              <a:spcBef>
                <a:spcPts val="1500"/>
              </a:spcBef>
              <a:buClr>
                <a:srgbClr val="F28230"/>
              </a:buClr>
            </a:pPr>
            <a:r>
              <a:rPr lang="en-US" sz="1600" dirty="0" err="1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Enjeux</a:t>
            </a:r>
            <a:r>
              <a:rPr lang="en-US" sz="1600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 AEP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 </a:t>
            </a:r>
            <a:r>
              <a:rPr lang="fr-FR" sz="1800" b="1" dirty="0">
                <a:solidFill>
                  <a:srgbClr val="202122"/>
                </a:solidFill>
                <a:highlight>
                  <a:srgbClr val="FFFFFF"/>
                </a:highlight>
                <a:latin typeface="Century Gothic"/>
                <a:ea typeface="Calibri Light"/>
                <a:cs typeface="Calibri Light"/>
              </a:rPr>
              <a:t>→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 ex :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Capacité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de production =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quantité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d'eau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que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peut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fournir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un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captage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(DAVAR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Georep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)</a:t>
            </a:r>
            <a:endParaRPr lang="en-US" sz="1600" dirty="0">
              <a:latin typeface="Aptos"/>
              <a:ea typeface="+mn-lt"/>
              <a:cs typeface="+mn-lt"/>
            </a:endParaRPr>
          </a:p>
          <a:p>
            <a:pPr lvl="1" algn="just">
              <a:lnSpc>
                <a:spcPct val="100000"/>
              </a:lnSpc>
              <a:spcBef>
                <a:spcPts val="1500"/>
              </a:spcBef>
              <a:buClr>
                <a:srgbClr val="F28230"/>
              </a:buClr>
            </a:pPr>
            <a:r>
              <a:rPr lang="en-US" sz="1600" dirty="0" err="1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Enjeux</a:t>
            </a:r>
            <a:r>
              <a:rPr lang="en-US" sz="1600" dirty="0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 </a:t>
            </a:r>
            <a:r>
              <a:rPr lang="en-US" sz="1600" dirty="0" err="1">
                <a:solidFill>
                  <a:srgbClr val="F28230"/>
                </a:solidFill>
                <a:latin typeface="Century Gothic"/>
                <a:ea typeface="Calibri Light"/>
                <a:cs typeface="Calibri Light"/>
              </a:rPr>
              <a:t>environnementaux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 </a:t>
            </a:r>
            <a:r>
              <a:rPr lang="fr-FR" sz="1800" b="1" dirty="0">
                <a:solidFill>
                  <a:srgbClr val="202122"/>
                </a:solidFill>
                <a:highlight>
                  <a:srgbClr val="FFFFFF"/>
                </a:highlight>
                <a:latin typeface="Century Gothic"/>
                <a:ea typeface="Calibri Light"/>
                <a:cs typeface="Calibri Light"/>
              </a:rPr>
              <a:t>→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 ex :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Couvert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végétal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=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superficie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des intersections avec des zones de couverture </a:t>
            </a:r>
            <a:r>
              <a:rPr lang="en-US" sz="1600" dirty="0" err="1">
                <a:latin typeface="Century Gothic"/>
                <a:ea typeface="Calibri Light"/>
                <a:cs typeface="Calibri Light"/>
              </a:rPr>
              <a:t>végétale</a:t>
            </a:r>
            <a:r>
              <a:rPr lang="en-US" sz="1600" dirty="0">
                <a:latin typeface="Century Gothic"/>
                <a:ea typeface="Calibri Light"/>
                <a:cs typeface="Calibri Light"/>
              </a:rPr>
              <a:t> (MOS Dynamic World)</a:t>
            </a:r>
          </a:p>
          <a:p>
            <a:pPr lvl="1" algn="just">
              <a:lnSpc>
                <a:spcPct val="100000"/>
              </a:lnSpc>
              <a:spcBef>
                <a:spcPts val="1500"/>
              </a:spcBef>
              <a:buClr>
                <a:srgbClr val="F28230"/>
              </a:buClr>
            </a:pPr>
            <a:r>
              <a:rPr lang="fr-FR" sz="1600" dirty="0">
                <a:solidFill>
                  <a:srgbClr val="F28230"/>
                </a:solidFill>
                <a:latin typeface="Century Gothic"/>
              </a:rPr>
              <a:t>Pressions environnementales</a:t>
            </a:r>
            <a:r>
              <a:rPr lang="fr-FR" sz="1600" dirty="0">
                <a:latin typeface="Century Gothic"/>
              </a:rPr>
              <a:t> </a:t>
            </a:r>
            <a:r>
              <a:rPr lang="fr-FR" sz="1800" b="1" dirty="0">
                <a:solidFill>
                  <a:srgbClr val="202122"/>
                </a:solidFill>
                <a:highlight>
                  <a:srgbClr val="FFFFFF"/>
                </a:highlight>
                <a:latin typeface="Century Gothic"/>
              </a:rPr>
              <a:t>→</a:t>
            </a:r>
            <a:r>
              <a:rPr lang="fr-FR" sz="1600" dirty="0">
                <a:latin typeface="Century Gothic"/>
              </a:rPr>
              <a:t> ex : Incendies cumulés = surface totale touchée par les incendies (ŒIL)</a:t>
            </a:r>
          </a:p>
          <a:p>
            <a:pPr lvl="1" algn="just">
              <a:lnSpc>
                <a:spcPct val="100000"/>
              </a:lnSpc>
              <a:spcBef>
                <a:spcPts val="1500"/>
              </a:spcBef>
              <a:buClr>
                <a:srgbClr val="F28230"/>
              </a:buClr>
            </a:pPr>
            <a:r>
              <a:rPr lang="fr-FR" sz="1600" dirty="0">
                <a:solidFill>
                  <a:srgbClr val="F28230"/>
                </a:solidFill>
                <a:latin typeface="Century Gothic"/>
              </a:rPr>
              <a:t>Pressions anthropiques</a:t>
            </a:r>
            <a:r>
              <a:rPr lang="fr-FR" sz="1600" dirty="0">
                <a:latin typeface="Century Gothic"/>
              </a:rPr>
              <a:t> </a:t>
            </a:r>
            <a:r>
              <a:rPr lang="fr-FR" sz="1800" b="1" dirty="0">
                <a:solidFill>
                  <a:srgbClr val="202122"/>
                </a:solidFill>
                <a:highlight>
                  <a:srgbClr val="FFFFFF"/>
                </a:highlight>
                <a:latin typeface="Century Gothic"/>
              </a:rPr>
              <a:t>→</a:t>
            </a:r>
            <a:r>
              <a:rPr lang="fr-FR" sz="1600" dirty="0">
                <a:latin typeface="Century Gothic"/>
              </a:rPr>
              <a:t> ex : Urbanisation = nombre de bâtiments présents (DITTT)</a:t>
            </a:r>
          </a:p>
          <a:p>
            <a:pPr lvl="1" algn="just">
              <a:lnSpc>
                <a:spcPct val="100000"/>
              </a:lnSpc>
              <a:spcBef>
                <a:spcPts val="1500"/>
              </a:spcBef>
              <a:buClr>
                <a:srgbClr val="F28230"/>
              </a:buClr>
            </a:pPr>
            <a:r>
              <a:rPr lang="fr-FR" sz="1600" dirty="0">
                <a:solidFill>
                  <a:srgbClr val="F28230"/>
                </a:solidFill>
                <a:latin typeface="Century Gothic"/>
              </a:rPr>
              <a:t>Vulnérabilité intrinsèque</a:t>
            </a:r>
            <a:r>
              <a:rPr lang="fr-FR" sz="1600" dirty="0">
                <a:latin typeface="Century Gothic"/>
              </a:rPr>
              <a:t> </a:t>
            </a:r>
            <a:r>
              <a:rPr lang="fr-FR" sz="1800" b="1" dirty="0">
                <a:solidFill>
                  <a:srgbClr val="202122"/>
                </a:solidFill>
                <a:highlight>
                  <a:srgbClr val="FFFFFF"/>
                </a:highlight>
                <a:latin typeface="Century Gothic"/>
              </a:rPr>
              <a:t>→</a:t>
            </a:r>
            <a:r>
              <a:rPr lang="fr-FR" sz="1600" dirty="0">
                <a:latin typeface="Century Gothic"/>
              </a:rPr>
              <a:t> ex : Vulnérabilité souterraine = score de vulnérabilité lié à la perméabilité (DIMENC </a:t>
            </a:r>
            <a:r>
              <a:rPr lang="fr-FR" sz="1600" dirty="0" err="1">
                <a:latin typeface="Century Gothic"/>
              </a:rPr>
              <a:t>Georep</a:t>
            </a:r>
            <a:r>
              <a:rPr lang="fr-FR" sz="1600" dirty="0">
                <a:latin typeface="Century Gothic"/>
              </a:rPr>
              <a:t>)</a:t>
            </a:r>
          </a:p>
          <a:p>
            <a:pPr lvl="1" algn="just">
              <a:lnSpc>
                <a:spcPct val="100000"/>
              </a:lnSpc>
              <a:spcBef>
                <a:spcPts val="1500"/>
              </a:spcBef>
              <a:buClr>
                <a:srgbClr val="F28230"/>
              </a:buClr>
            </a:pPr>
            <a:r>
              <a:rPr lang="fr-FR" sz="1600" dirty="0">
                <a:solidFill>
                  <a:srgbClr val="F28230"/>
                </a:solidFill>
                <a:latin typeface="Century Gothic"/>
              </a:rPr>
              <a:t>Pressions quantitatives</a:t>
            </a:r>
            <a:r>
              <a:rPr lang="fr-FR" sz="1600" dirty="0">
                <a:latin typeface="Century Gothic"/>
              </a:rPr>
              <a:t> </a:t>
            </a:r>
            <a:r>
              <a:rPr lang="fr-FR" sz="1800" b="1" dirty="0">
                <a:solidFill>
                  <a:srgbClr val="202122"/>
                </a:solidFill>
                <a:highlight>
                  <a:srgbClr val="FFFFFF"/>
                </a:highlight>
                <a:latin typeface="Century Gothic"/>
              </a:rPr>
              <a:t>→</a:t>
            </a:r>
            <a:r>
              <a:rPr lang="fr-FR" sz="1600" dirty="0">
                <a:latin typeface="Century Gothic"/>
              </a:rPr>
              <a:t> ex : Bilan Besoin Ressource (BBR) = écart entre l’eau disponible et les besoins (DAVAR </a:t>
            </a:r>
            <a:r>
              <a:rPr lang="fr-FR" sz="1600" dirty="0" err="1">
                <a:latin typeface="Century Gothic"/>
              </a:rPr>
              <a:t>Georep</a:t>
            </a:r>
            <a:r>
              <a:rPr lang="fr-FR" sz="1600" dirty="0">
                <a:latin typeface="Century Gothic"/>
              </a:rPr>
              <a:t>)</a:t>
            </a:r>
            <a:endParaRPr lang="fr-FR" sz="1800" i="1" dirty="0">
              <a:latin typeface="Century Gothic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BCD9D9-F1C2-AEA4-B5FB-4E8C679D4EF9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			</a:t>
            </a:r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PERIMETRE FONCTIONNEL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QUESTIONS &amp; ECHANGES	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3326810-B7F1-A1E4-A9EA-91DB3020EC27}"/>
              </a:ext>
            </a:extLst>
          </p:cNvPr>
          <p:cNvGrpSpPr/>
          <p:nvPr/>
        </p:nvGrpSpPr>
        <p:grpSpPr>
          <a:xfrm>
            <a:off x="7923494" y="6178136"/>
            <a:ext cx="4011984" cy="557193"/>
            <a:chOff x="7923494" y="6178136"/>
            <a:chExt cx="4011984" cy="557193"/>
          </a:xfrm>
        </p:grpSpPr>
        <p:pic>
          <p:nvPicPr>
            <p:cNvPr id="11" name="Image 1">
              <a:extLst>
                <a:ext uri="{FF2B5EF4-FFF2-40B4-BE49-F238E27FC236}">
                  <a16:creationId xmlns:a16="http://schemas.microsoft.com/office/drawing/2014/main" id="{3F13E7FC-AF2B-A2D1-B5CB-89360765F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62" b="2572"/>
            <a:stretch>
              <a:fillRect/>
            </a:stretch>
          </p:blipFill>
          <p:spPr>
            <a:xfrm>
              <a:off x="7923494" y="6178136"/>
              <a:ext cx="2638202" cy="557193"/>
            </a:xfrm>
            <a:prstGeom prst="rect">
              <a:avLst/>
            </a:prstGeom>
          </p:spPr>
        </p:pic>
        <p:pic>
          <p:nvPicPr>
            <p:cNvPr id="12" name="Image 4">
              <a:extLst>
                <a:ext uri="{FF2B5EF4-FFF2-40B4-BE49-F238E27FC236}">
                  <a16:creationId xmlns:a16="http://schemas.microsoft.com/office/drawing/2014/main" id="{8956161C-839F-45E1-CF21-01E3B8D97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43492" y="6229577"/>
              <a:ext cx="1191986" cy="502887"/>
            </a:xfrm>
            <a:prstGeom prst="rect">
              <a:avLst/>
            </a:prstGeom>
          </p:spPr>
        </p:pic>
      </p:grp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2BDB091-9831-DC16-0805-590F86FF8019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17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2124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0558" y="1715248"/>
            <a:ext cx="8581041" cy="4627248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Century Gothic" panose="020B0502020202020204" pitchFamily="34" charset="0"/>
              <a:buChar char="Χ"/>
            </a:pPr>
            <a:r>
              <a:rPr lang="en-US" sz="1800" dirty="0">
                <a:latin typeface="Century Gothic"/>
                <a:cs typeface="Arial"/>
              </a:rPr>
              <a:t>Données </a:t>
            </a:r>
            <a:r>
              <a:rPr lang="en-US" sz="1800" dirty="0" err="1">
                <a:latin typeface="Century Gothic"/>
                <a:cs typeface="Arial"/>
              </a:rPr>
              <a:t>sensibles</a:t>
            </a:r>
            <a:r>
              <a:rPr lang="en-US" sz="1800" dirty="0">
                <a:latin typeface="Century Gothic"/>
                <a:cs typeface="Arial"/>
              </a:rPr>
              <a:t>, </a:t>
            </a:r>
            <a:r>
              <a:rPr lang="en-US" sz="1800" dirty="0" err="1">
                <a:latin typeface="Century Gothic"/>
                <a:cs typeface="Arial"/>
              </a:rPr>
              <a:t>ou</a:t>
            </a:r>
            <a:r>
              <a:rPr lang="en-US" sz="1800" dirty="0">
                <a:latin typeface="Century Gothic"/>
                <a:cs typeface="Arial"/>
              </a:rPr>
              <a:t> trop </a:t>
            </a:r>
            <a:r>
              <a:rPr lang="en-US" sz="1800" dirty="0" err="1">
                <a:latin typeface="Century Gothic"/>
                <a:cs typeface="Arial"/>
              </a:rPr>
              <a:t>coûteuses</a:t>
            </a:r>
            <a:r>
              <a:rPr lang="en-US" sz="1800" dirty="0">
                <a:latin typeface="Century Gothic"/>
                <a:cs typeface="Arial"/>
              </a:rPr>
              <a:t> / trop complexes à </a:t>
            </a:r>
            <a:r>
              <a:rPr lang="en-US" sz="1800" dirty="0" err="1">
                <a:latin typeface="Century Gothic"/>
                <a:cs typeface="Arial"/>
              </a:rPr>
              <a:t>intégrer</a:t>
            </a:r>
            <a:r>
              <a:rPr lang="en-US" sz="1800" dirty="0">
                <a:latin typeface="Century Gothic"/>
                <a:cs typeface="Arial"/>
              </a:rPr>
              <a:t> :</a:t>
            </a:r>
          </a:p>
          <a:p>
            <a:pPr marL="894715" lvl="1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600" dirty="0">
                <a:latin typeface="Century Gothic"/>
                <a:cs typeface="Arial"/>
              </a:rPr>
              <a:t>Données brutes </a:t>
            </a:r>
            <a:r>
              <a:rPr lang="en-US" sz="1600" dirty="0" err="1">
                <a:latin typeface="Century Gothic"/>
                <a:cs typeface="Arial"/>
              </a:rPr>
              <a:t>physico-chimiques</a:t>
            </a:r>
            <a:r>
              <a:rPr lang="en-US" sz="1600" dirty="0">
                <a:latin typeface="Century Gothic"/>
                <a:cs typeface="Arial"/>
              </a:rPr>
              <a:t> / </a:t>
            </a:r>
            <a:r>
              <a:rPr lang="en-US" sz="1600" dirty="0" err="1">
                <a:latin typeface="Century Gothic"/>
                <a:cs typeface="Arial"/>
              </a:rPr>
              <a:t>bactériologiques</a:t>
            </a:r>
            <a:r>
              <a:rPr lang="en-US" sz="1600" dirty="0">
                <a:latin typeface="Century Gothic"/>
                <a:cs typeface="Arial"/>
              </a:rPr>
              <a:t> (</a:t>
            </a:r>
            <a:r>
              <a:rPr lang="en-US" sz="1600" dirty="0" err="1">
                <a:latin typeface="Century Gothic"/>
                <a:cs typeface="Arial"/>
              </a:rPr>
              <a:t>qualité</a:t>
            </a:r>
            <a:r>
              <a:rPr lang="en-US" sz="1600" dirty="0">
                <a:latin typeface="Century Gothic"/>
                <a:cs typeface="Arial"/>
              </a:rPr>
              <a:t> de </a:t>
            </a:r>
            <a:r>
              <a:rPr lang="en-US" sz="1600" dirty="0" err="1">
                <a:latin typeface="Century Gothic"/>
                <a:cs typeface="Arial"/>
              </a:rPr>
              <a:t>l’eau</a:t>
            </a:r>
            <a:r>
              <a:rPr lang="en-US" sz="1600" dirty="0">
                <a:latin typeface="Century Gothic"/>
                <a:cs typeface="Arial"/>
              </a:rPr>
              <a:t>)</a:t>
            </a:r>
          </a:p>
          <a:p>
            <a:pPr marL="894715" lvl="1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600" dirty="0">
                <a:latin typeface="Century Gothic"/>
                <a:cs typeface="Arial"/>
              </a:rPr>
              <a:t>Données temps </a:t>
            </a:r>
            <a:r>
              <a:rPr lang="en-US" sz="1600" dirty="0" err="1">
                <a:latin typeface="Century Gothic"/>
                <a:cs typeface="Arial"/>
              </a:rPr>
              <a:t>réel</a:t>
            </a:r>
            <a:r>
              <a:rPr lang="en-US" sz="1600" dirty="0">
                <a:latin typeface="Century Gothic"/>
                <a:cs typeface="Arial"/>
              </a:rPr>
              <a:t> </a:t>
            </a:r>
          </a:p>
          <a:p>
            <a:pPr marL="1504300" lvl="2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?"/>
            </a:pPr>
            <a:r>
              <a:rPr lang="en-US" sz="1600" dirty="0" err="1">
                <a:latin typeface="Century Gothic"/>
                <a:cs typeface="Arial"/>
              </a:rPr>
              <a:t>Pluviométrie</a:t>
            </a:r>
            <a:r>
              <a:rPr lang="en-US" sz="1600" dirty="0">
                <a:latin typeface="Century Gothic"/>
                <a:cs typeface="Arial"/>
              </a:rPr>
              <a:t> (API </a:t>
            </a:r>
            <a:r>
              <a:rPr lang="en-US" sz="1600" dirty="0" err="1">
                <a:latin typeface="Century Gothic"/>
                <a:cs typeface="Arial"/>
              </a:rPr>
              <a:t>Météo</a:t>
            </a:r>
            <a:r>
              <a:rPr lang="en-US" sz="1600" dirty="0">
                <a:latin typeface="Century Gothic"/>
                <a:cs typeface="Arial"/>
              </a:rPr>
              <a:t> France)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Century Gothic" panose="020B0502020202020204" pitchFamily="34" charset="0"/>
              <a:buChar char="Χ"/>
            </a:pPr>
            <a:r>
              <a:rPr lang="en-US" sz="1800" dirty="0">
                <a:latin typeface="Century Gothic"/>
                <a:cs typeface="Arial"/>
              </a:rPr>
              <a:t>Narration </a:t>
            </a:r>
            <a:r>
              <a:rPr lang="en-US" sz="1800" dirty="0" err="1">
                <a:latin typeface="Century Gothic"/>
                <a:cs typeface="Arial"/>
              </a:rPr>
              <a:t>multimédia</a:t>
            </a:r>
            <a:r>
              <a:rPr lang="en-US" sz="1800" dirty="0">
                <a:latin typeface="Century Gothic"/>
                <a:cs typeface="Arial"/>
              </a:rPr>
              <a:t> grand public → </a:t>
            </a:r>
            <a:r>
              <a:rPr lang="en-US" sz="1800" dirty="0" err="1">
                <a:latin typeface="Century Gothic"/>
                <a:cs typeface="Arial"/>
              </a:rPr>
              <a:t>projet</a:t>
            </a:r>
            <a:r>
              <a:rPr lang="en-US" sz="1800" dirty="0">
                <a:latin typeface="Century Gothic"/>
                <a:cs typeface="Arial"/>
              </a:rPr>
              <a:t> SOURCE</a:t>
            </a:r>
          </a:p>
          <a:p>
            <a:pPr marL="285750" lvl="0" indent="-285750">
              <a:lnSpc>
                <a:spcPct val="150000"/>
              </a:lnSpc>
              <a:buClr>
                <a:srgbClr val="FF0000"/>
              </a:buClr>
              <a:buFont typeface="Century Gothic" panose="020B0502020202020204" pitchFamily="34" charset="0"/>
              <a:buChar char="Χ"/>
            </a:pPr>
            <a:r>
              <a:rPr lang="en-US" sz="1800" dirty="0">
                <a:latin typeface="Century Gothic"/>
                <a:cs typeface="Arial"/>
              </a:rPr>
              <a:t>Gestion administrative</a:t>
            </a:r>
          </a:p>
          <a:p>
            <a:pPr marL="895335" lvl="1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600" dirty="0" err="1">
                <a:latin typeface="Century Gothic"/>
                <a:cs typeface="Arial"/>
              </a:rPr>
              <a:t>Facturation</a:t>
            </a:r>
            <a:r>
              <a:rPr lang="en-US" sz="1600" dirty="0">
                <a:latin typeface="Century Gothic"/>
                <a:cs typeface="Arial"/>
              </a:rPr>
              <a:t> de </a:t>
            </a:r>
            <a:r>
              <a:rPr lang="en-US" sz="1600" dirty="0" err="1">
                <a:latin typeface="Century Gothic"/>
                <a:cs typeface="Arial"/>
              </a:rPr>
              <a:t>l’eau</a:t>
            </a:r>
            <a:endParaRPr lang="en-US" sz="1600" dirty="0">
              <a:latin typeface="Century Gothic"/>
              <a:cs typeface="Arial"/>
            </a:endParaRPr>
          </a:p>
          <a:p>
            <a:pPr marL="895335" lvl="1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600" dirty="0">
                <a:latin typeface="Century Gothic"/>
                <a:cs typeface="Arial"/>
              </a:rPr>
              <a:t>Instruction </a:t>
            </a:r>
            <a:r>
              <a:rPr lang="en-US" sz="1600" dirty="0" err="1">
                <a:latin typeface="Century Gothic"/>
                <a:cs typeface="Arial"/>
              </a:rPr>
              <a:t>réglementaire</a:t>
            </a:r>
            <a:r>
              <a:rPr lang="en-US" sz="1600" dirty="0">
                <a:latin typeface="Century Gothic"/>
                <a:cs typeface="Arial"/>
              </a:rPr>
              <a:t> des PPE (</a:t>
            </a:r>
            <a:r>
              <a:rPr lang="en-US" sz="1600" dirty="0" err="1">
                <a:latin typeface="Century Gothic"/>
                <a:cs typeface="Arial"/>
              </a:rPr>
              <a:t>compétence</a:t>
            </a:r>
            <a:r>
              <a:rPr lang="en-US" sz="1600" dirty="0">
                <a:latin typeface="Century Gothic"/>
                <a:cs typeface="Arial"/>
              </a:rPr>
              <a:t> DAVAR)</a:t>
            </a:r>
          </a:p>
          <a:p>
            <a:pPr marL="285750" lvl="0" indent="-285750">
              <a:lnSpc>
                <a:spcPct val="150000"/>
              </a:lnSpc>
              <a:buClr>
                <a:srgbClr val="FF0000"/>
              </a:buClr>
              <a:buFont typeface="Century Gothic" panose="020B0502020202020204" pitchFamily="34" charset="0"/>
              <a:buChar char="Χ"/>
            </a:pPr>
            <a:r>
              <a:rPr lang="en-US" sz="1800" dirty="0" err="1">
                <a:latin typeface="Century Gothic"/>
                <a:cs typeface="Arial"/>
              </a:rPr>
              <a:t>Fonctionnalités</a:t>
            </a:r>
            <a:r>
              <a:rPr lang="en-US" sz="1800" dirty="0">
                <a:latin typeface="Century Gothic"/>
                <a:cs typeface="Arial"/>
              </a:rPr>
              <a:t> trop </a:t>
            </a:r>
            <a:r>
              <a:rPr lang="en-US" sz="1800" dirty="0" err="1">
                <a:latin typeface="Century Gothic"/>
                <a:cs typeface="Arial"/>
              </a:rPr>
              <a:t>avancées</a:t>
            </a:r>
            <a:r>
              <a:rPr lang="en-US" sz="1800" dirty="0">
                <a:latin typeface="Century Gothic"/>
                <a:cs typeface="Arial"/>
              </a:rPr>
              <a:t> / sur-</a:t>
            </a:r>
            <a:r>
              <a:rPr lang="en-US" sz="1800" dirty="0" err="1">
                <a:latin typeface="Century Gothic"/>
                <a:cs typeface="Arial"/>
              </a:rPr>
              <a:t>mesure</a:t>
            </a:r>
            <a:r>
              <a:rPr lang="en-US" sz="1800" dirty="0">
                <a:latin typeface="Century Gothic"/>
                <a:cs typeface="Arial"/>
              </a:rPr>
              <a:t> (usage </a:t>
            </a:r>
            <a:r>
              <a:rPr lang="en-US" sz="1800" dirty="0" err="1">
                <a:latin typeface="Century Gothic"/>
                <a:cs typeface="Arial"/>
              </a:rPr>
              <a:t>isolé</a:t>
            </a:r>
            <a:r>
              <a:rPr lang="en-US" sz="1800" dirty="0">
                <a:latin typeface="Century Gothic"/>
                <a:cs typeface="Arial"/>
              </a:rPr>
              <a:t>)</a:t>
            </a:r>
          </a:p>
          <a:p>
            <a:pPr marL="895335" lvl="1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600" dirty="0" err="1">
                <a:latin typeface="Century Gothic"/>
                <a:cs typeface="Arial"/>
              </a:rPr>
              <a:t>Modélisation</a:t>
            </a:r>
            <a:r>
              <a:rPr lang="en-US" sz="1600" dirty="0">
                <a:latin typeface="Century Gothic"/>
                <a:cs typeface="Arial"/>
              </a:rPr>
              <a:t> </a:t>
            </a:r>
            <a:r>
              <a:rPr lang="en-US" sz="1600" dirty="0" err="1">
                <a:latin typeface="Century Gothic"/>
                <a:cs typeface="Arial"/>
              </a:rPr>
              <a:t>hydraulique</a:t>
            </a:r>
            <a:r>
              <a:rPr lang="en-US" sz="1600" dirty="0">
                <a:latin typeface="Century Gothic"/>
                <a:cs typeface="Arial"/>
              </a:rPr>
              <a:t> des réseaux</a:t>
            </a:r>
            <a:endParaRPr lang="en-US" sz="1600" i="1" dirty="0">
              <a:latin typeface="Century Gothic"/>
              <a:cs typeface="Arial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3BC4E41-F610-49FB-A171-3071A6EA3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F5629857-7C42-C735-C22B-6BC67A246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9D8182-64D9-A2A0-B3FE-CEEF855C1F41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22561CE-4FD4-BF10-A05F-C47DE7D097A4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Limites du projet</a:t>
            </a:r>
            <a:endParaRPr lang="en-US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B5B1E95-527B-87B4-6FF5-C558A2C51FD3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			</a:t>
            </a:r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PERIMETRE FONCTIONNEL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	QUESTIONS &amp; ECHANGES	</a:t>
            </a: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3EE92A00-9155-8275-11D4-B5800D4AC2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2" b="2572"/>
          <a:stretch>
            <a:fillRect/>
          </a:stretch>
        </p:blipFill>
        <p:spPr>
          <a:xfrm>
            <a:off x="7923494" y="6178136"/>
            <a:ext cx="2638202" cy="557193"/>
          </a:xfrm>
          <a:prstGeom prst="rect">
            <a:avLst/>
          </a:prstGeom>
        </p:spPr>
      </p:pic>
      <p:pic>
        <p:nvPicPr>
          <p:cNvPr id="8" name="Image 4">
            <a:extLst>
              <a:ext uri="{FF2B5EF4-FFF2-40B4-BE49-F238E27FC236}">
                <a16:creationId xmlns:a16="http://schemas.microsoft.com/office/drawing/2014/main" id="{9A6BB606-5909-8BFE-1A21-158B15F7E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035" y="6239661"/>
            <a:ext cx="1191986" cy="502887"/>
          </a:xfrm>
          <a:prstGeom prst="rect">
            <a:avLst/>
          </a:prstGeom>
        </p:spPr>
      </p:pic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6D104B54-9267-C0E9-3BDA-6F7B409CCC1B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18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3BEB-85E3-6814-FE8D-EEA4D347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C8CB92D9-EB45-1FE9-0BC7-2CE6D6EAC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8" y="671935"/>
            <a:ext cx="909122" cy="120680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7011FE6-2F49-556E-58D1-4F899D307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58" y="2033151"/>
            <a:ext cx="921733" cy="23273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B17F017-AC75-2566-701F-247B30CBC30C}"/>
              </a:ext>
            </a:extLst>
          </p:cNvPr>
          <p:cNvSpPr/>
          <p:nvPr/>
        </p:nvSpPr>
        <p:spPr>
          <a:xfrm>
            <a:off x="0" y="0"/>
            <a:ext cx="12192000" cy="517526"/>
          </a:xfrm>
          <a:prstGeom prst="rect">
            <a:avLst/>
          </a:prstGeom>
          <a:solidFill>
            <a:srgbClr val="156082">
              <a:alpha val="50000"/>
            </a:srgb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A93DFCAC-AA7A-5A9B-FDEC-62C16959C31E}"/>
              </a:ext>
            </a:extLst>
          </p:cNvPr>
          <p:cNvSpPr txBox="1">
            <a:spLocks/>
          </p:cNvSpPr>
          <p:nvPr/>
        </p:nvSpPr>
        <p:spPr>
          <a:xfrm>
            <a:off x="1574071" y="671935"/>
            <a:ext cx="9453979" cy="10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accent1"/>
                </a:solidFill>
                <a:latin typeface="Century Gothic"/>
              </a:rPr>
              <a:t>Questions ?</a:t>
            </a:r>
            <a:endParaRPr lang="en-US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9FB4231-2CCF-7F53-0326-8F25741B417E}"/>
              </a:ext>
            </a:extLst>
          </p:cNvPr>
          <p:cNvSpPr txBox="1"/>
          <p:nvPr/>
        </p:nvSpPr>
        <p:spPr>
          <a:xfrm>
            <a:off x="0" y="8521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PRESENTATION DU PROJET			PERIMETRE FONCTIONNEL		</a:t>
            </a:r>
            <a:r>
              <a:rPr lang="fr-FR" sz="1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QUESTIONS &amp; ECHANGES</a:t>
            </a:r>
            <a:r>
              <a:rPr lang="fr-FR" sz="1600" i="1" dirty="0">
                <a:solidFill>
                  <a:schemeClr val="bg1"/>
                </a:solidFill>
                <a:latin typeface="Century Gothic" panose="020B0502020202020204" pitchFamily="34" charset="0"/>
              </a:rPr>
              <a:t>	</a:t>
            </a:r>
          </a:p>
        </p:txBody>
      </p:sp>
      <p:pic>
        <p:nvPicPr>
          <p:cNvPr id="12" name="Image 1">
            <a:extLst>
              <a:ext uri="{FF2B5EF4-FFF2-40B4-BE49-F238E27FC236}">
                <a16:creationId xmlns:a16="http://schemas.microsoft.com/office/drawing/2014/main" id="{27AE1DB0-9108-8B03-9D24-43776D404B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2" b="2572"/>
          <a:stretch>
            <a:fillRect/>
          </a:stretch>
        </p:blipFill>
        <p:spPr>
          <a:xfrm>
            <a:off x="7923494" y="6178136"/>
            <a:ext cx="2638202" cy="557193"/>
          </a:xfrm>
          <a:prstGeom prst="rect">
            <a:avLst/>
          </a:prstGeom>
        </p:spPr>
      </p:pic>
      <p:pic>
        <p:nvPicPr>
          <p:cNvPr id="13" name="Image 4">
            <a:extLst>
              <a:ext uri="{FF2B5EF4-FFF2-40B4-BE49-F238E27FC236}">
                <a16:creationId xmlns:a16="http://schemas.microsoft.com/office/drawing/2014/main" id="{1F4DA236-3239-0FE2-3B60-D3F250B21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035" y="6239661"/>
            <a:ext cx="1191986" cy="502887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04BD5B5-AD71-381B-2ECB-E0FB1B131C66}"/>
              </a:ext>
            </a:extLst>
          </p:cNvPr>
          <p:cNvSpPr txBox="1">
            <a:spLocks/>
          </p:cNvSpPr>
          <p:nvPr/>
        </p:nvSpPr>
        <p:spPr>
          <a:xfrm>
            <a:off x="1680558" y="1715248"/>
            <a:ext cx="8581041" cy="4627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indent="-228600" algn="l" defTabSz="6095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60958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60958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60958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60958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60958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60958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60958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60958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dirty="0" err="1">
                <a:latin typeface="Century Gothic"/>
                <a:cs typeface="Arial"/>
              </a:rPr>
              <a:t>Pensez</a:t>
            </a:r>
            <a:r>
              <a:rPr lang="en-US" sz="1800" dirty="0">
                <a:latin typeface="Century Gothic"/>
                <a:cs typeface="Arial"/>
              </a:rPr>
              <a:t>-vous </a:t>
            </a:r>
            <a:r>
              <a:rPr lang="en-US" sz="1800" dirty="0" err="1">
                <a:latin typeface="Century Gothic"/>
                <a:cs typeface="Arial"/>
              </a:rPr>
              <a:t>utiliser</a:t>
            </a:r>
            <a:r>
              <a:rPr lang="en-US" sz="1800" dirty="0">
                <a:latin typeface="Century Gothic"/>
                <a:cs typeface="Arial"/>
              </a:rPr>
              <a:t> </a:t>
            </a:r>
            <a:r>
              <a:rPr lang="en-US" sz="1800" dirty="0" err="1">
                <a:latin typeface="Century Gothic"/>
                <a:cs typeface="Arial"/>
              </a:rPr>
              <a:t>cet</a:t>
            </a:r>
            <a:r>
              <a:rPr lang="en-US" sz="1800" dirty="0">
                <a:latin typeface="Century Gothic"/>
                <a:cs typeface="Arial"/>
              </a:rPr>
              <a:t> </a:t>
            </a:r>
            <a:r>
              <a:rPr lang="en-US" sz="1800" dirty="0" err="1">
                <a:latin typeface="Century Gothic"/>
                <a:cs typeface="Arial"/>
              </a:rPr>
              <a:t>outil</a:t>
            </a:r>
            <a:r>
              <a:rPr lang="en-US" sz="1800" dirty="0">
                <a:latin typeface="Century Gothic"/>
                <a:cs typeface="Arial"/>
              </a:rPr>
              <a:t> ?</a:t>
            </a:r>
          </a:p>
          <a:p>
            <a:pPr marL="285750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dirty="0" err="1">
                <a:latin typeface="Century Gothic"/>
                <a:cs typeface="Arial"/>
              </a:rPr>
              <a:t>Fonctionnalités</a:t>
            </a:r>
            <a:r>
              <a:rPr lang="en-US" sz="1800" dirty="0">
                <a:latin typeface="Century Gothic"/>
                <a:cs typeface="Arial"/>
              </a:rPr>
              <a:t> </a:t>
            </a:r>
            <a:r>
              <a:rPr lang="en-US" sz="1800" dirty="0" err="1">
                <a:latin typeface="Century Gothic"/>
                <a:cs typeface="Arial"/>
              </a:rPr>
              <a:t>manquantes</a:t>
            </a:r>
            <a:r>
              <a:rPr lang="en-US" sz="1800" dirty="0">
                <a:latin typeface="Century Gothic"/>
                <a:cs typeface="Arial"/>
              </a:rPr>
              <a:t> ? </a:t>
            </a:r>
            <a:r>
              <a:rPr lang="en-US" sz="1800" dirty="0" err="1">
                <a:latin typeface="Century Gothic"/>
                <a:cs typeface="Arial"/>
              </a:rPr>
              <a:t>Prioritaires</a:t>
            </a:r>
            <a:r>
              <a:rPr lang="en-US" sz="1800" dirty="0">
                <a:latin typeface="Century Gothic"/>
                <a:cs typeface="Arial"/>
              </a:rPr>
              <a:t> ? </a:t>
            </a:r>
            <a:r>
              <a:rPr lang="en-US" sz="1800" dirty="0" err="1">
                <a:latin typeface="Century Gothic"/>
                <a:cs typeface="Arial"/>
              </a:rPr>
              <a:t>Inutiles</a:t>
            </a:r>
            <a:r>
              <a:rPr lang="en-US" sz="1800" dirty="0">
                <a:latin typeface="Century Gothic"/>
                <a:cs typeface="Arial"/>
              </a:rPr>
              <a:t> ? </a:t>
            </a:r>
          </a:p>
          <a:p>
            <a:pPr marL="285750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dirty="0">
                <a:latin typeface="Century Gothic"/>
                <a:cs typeface="Arial"/>
              </a:rPr>
              <a:t>Données </a:t>
            </a:r>
            <a:r>
              <a:rPr lang="en-US" sz="1800" dirty="0" err="1">
                <a:latin typeface="Century Gothic"/>
                <a:cs typeface="Arial"/>
              </a:rPr>
              <a:t>pertinentes</a:t>
            </a:r>
            <a:r>
              <a:rPr lang="en-US" sz="1800" dirty="0">
                <a:latin typeface="Century Gothic"/>
                <a:cs typeface="Arial"/>
              </a:rPr>
              <a:t> ? </a:t>
            </a:r>
            <a:r>
              <a:rPr lang="en-US" sz="1800" dirty="0" err="1">
                <a:latin typeface="Century Gothic"/>
                <a:cs typeface="Arial"/>
              </a:rPr>
              <a:t>Autres</a:t>
            </a:r>
            <a:r>
              <a:rPr lang="en-US" sz="1800" dirty="0">
                <a:latin typeface="Century Gothic"/>
                <a:cs typeface="Arial"/>
              </a:rPr>
              <a:t> suggestions ?</a:t>
            </a:r>
          </a:p>
          <a:p>
            <a:pPr marL="285750" indent="-285750">
              <a:lnSpc>
                <a:spcPct val="150000"/>
              </a:lnSpc>
              <a:buClr>
                <a:srgbClr val="F28230"/>
              </a:buClr>
              <a:buFont typeface="Century Gothic" panose="020B0502020202020204" pitchFamily="34" charset="0"/>
              <a:buChar char="►"/>
            </a:pPr>
            <a:r>
              <a:rPr lang="en-US" sz="1800" dirty="0" err="1">
                <a:latin typeface="Century Gothic"/>
                <a:cs typeface="Arial"/>
              </a:rPr>
              <a:t>Bilatérales</a:t>
            </a:r>
            <a:r>
              <a:rPr lang="en-US" sz="1800" dirty="0">
                <a:latin typeface="Century Gothic"/>
                <a:cs typeface="Arial"/>
              </a:rPr>
              <a:t> ?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16D192-9A7E-BE6C-6F37-AD0B1A4F10AF}"/>
              </a:ext>
            </a:extLst>
          </p:cNvPr>
          <p:cNvSpPr txBox="1">
            <a:spLocks/>
          </p:cNvSpPr>
          <p:nvPr/>
        </p:nvSpPr>
        <p:spPr>
          <a:xfrm>
            <a:off x="419939" y="6298457"/>
            <a:ext cx="4133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EE40D-A476-4FA1-AB86-1526EBD72585}" type="slidenum">
              <a:rPr lang="fr-FR" sz="1400" b="1" smtClean="0">
                <a:latin typeface="Century Gothic"/>
                <a:ea typeface="Calibri Light"/>
                <a:cs typeface="Calibri Light"/>
              </a:rPr>
              <a:pPr/>
              <a:t>19</a:t>
            </a:fld>
            <a:endParaRPr lang="fr-FR" sz="1400" b="1" dirty="0">
              <a:latin typeface="Century Gothic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91378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7742F5-4FBB-4E1F-820F-A40F3C2A7BEF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57B8F9AEFA2D459CCC5BA0DA793E2F" ma:contentTypeVersion="22" ma:contentTypeDescription="Crée un document." ma:contentTypeScope="" ma:versionID="958509f91a1e9ecb817b6d20de74d0bc">
  <xsd:schema xmlns:xsd="http://www.w3.org/2001/XMLSchema" xmlns:xs="http://www.w3.org/2001/XMLSchema" xmlns:p="http://schemas.microsoft.com/office/2006/metadata/properties" xmlns:ns1="http://schemas.microsoft.com/sharepoint/v3" xmlns:ns2="2f842a33-3492-4161-bd34-44903e55dc8c" xmlns:ns3="713e08b7-8a49-4321-b04f-10cd9150d160" targetNamespace="http://schemas.microsoft.com/office/2006/metadata/properties" ma:root="true" ma:fieldsID="e0c53704d33f8404479bcf633108a604" ns1:_="" ns2:_="" ns3:_="">
    <xsd:import namespace="http://schemas.microsoft.com/sharepoint/v3"/>
    <xsd:import namespace="2f842a33-3492-4161-bd34-44903e55dc8c"/>
    <xsd:import namespace="713e08b7-8a49-4321-b04f-10cd9150d1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1:_dlc_ExpireDateSaved" minOccurs="0"/>
                <xsd:element ref="ns1:_dlc_ExpireDate" minOccurs="0"/>
                <xsd:element ref="ns1:_dlc_Exempt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pireDateSaved" ma:index="12" nillable="true" ma:displayName="Date d’expiration d’origine" ma:hidden="true" ma:internalName="_dlc_ExpireDateSaved" ma:readOnly="true">
      <xsd:simpleType>
        <xsd:restriction base="dms:DateTime"/>
      </xsd:simpleType>
    </xsd:element>
    <xsd:element name="_dlc_ExpireDate" ma:index="13" nillable="true" ma:displayName="Date d’expiration" ma:description="" ma:hidden="true" ma:indexed="true" ma:internalName="_dlc_ExpireDate" ma:readOnly="true">
      <xsd:simpleType>
        <xsd:restriction base="dms:DateTime"/>
      </xsd:simpleType>
    </xsd:element>
    <xsd:element name="_dlc_Exempt" ma:index="14" nillable="true" ma:displayName="Exempt de la stratégie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842a33-3492-4161-bd34-44903e55dc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8" nillable="true" ma:displayName="MediaServiceAutoTags" ma:internalName="MediaServiceAutoTags" ma:readOnly="true">
      <xsd:simpleType>
        <xsd:restriction base="dms:Text"/>
      </xsd:simpleType>
    </xsd:element>
    <xsd:element name="MediaServiceOCR" ma:index="1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Balises d’images" ma:readOnly="false" ma:fieldId="{5cf76f15-5ced-4ddc-b409-7134ff3c332f}" ma:taxonomyMulti="true" ma:sspId="9ab06ea2-2b14-4c82-a9fe-956051591d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e08b7-8a49-4321-b04f-10cd9150d16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e9f826f1-3fcf-4ca9-9df5-8617a2561da1}" ma:internalName="TaxCatchAll" ma:showField="CatchAllData" ma:web="713e08b7-8a49-4321-b04f-10cd9150d1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842a33-3492-4161-bd34-44903e55dc8c">
      <Terms xmlns="http://schemas.microsoft.com/office/infopath/2007/PartnerControls"/>
    </lcf76f155ced4ddcb4097134ff3c332f>
    <TaxCatchAll xmlns="713e08b7-8a49-4321-b04f-10cd9150d16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0A6F04-67A6-4D36-9160-002A9422A3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f842a33-3492-4161-bd34-44903e55dc8c"/>
    <ds:schemaRef ds:uri="713e08b7-8a49-4321-b04f-10cd9150d1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CB0DFD-DFF1-4BDF-93F0-63CF1F519452}">
  <ds:schemaRefs>
    <ds:schemaRef ds:uri="2f842a33-3492-4161-bd34-44903e55dc8c"/>
    <ds:schemaRef ds:uri="713e08b7-8a49-4321-b04f-10cd9150d16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7DB5816-0813-4420-885E-A05E1B28CE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1623</Words>
  <Application>Microsoft Office PowerPoint</Application>
  <PresentationFormat>Widescreen</PresentationFormat>
  <Paragraphs>215</Paragraphs>
  <Slides>19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Marjolaine DAVID</cp:lastModifiedBy>
  <cp:revision>605</cp:revision>
  <dcterms:created xsi:type="dcterms:W3CDTF">2026-03-11T01:27:59Z</dcterms:created>
  <dcterms:modified xsi:type="dcterms:W3CDTF">2026-07-21T08:40:42Z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policyId">
    <vt:lpwstr/>
  </property>
  <property fmtid="{D5CDD505-2E9C-101B-9397-08002B2CF9AE}" pid="3" name="ContentTypeId">
    <vt:lpwstr>0x010100F257B8F9AEFA2D459CCC5BA0DA793E2F</vt:lpwstr>
  </property>
  <property fmtid="{D5CDD505-2E9C-101B-9397-08002B2CF9AE}" pid="4" name="ItemRetentionFormula">
    <vt:lpwstr/>
  </property>
  <property fmtid="{D5CDD505-2E9C-101B-9397-08002B2CF9AE}" pid="5" name="MediaServiceImageTags">
    <vt:lpwstr/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